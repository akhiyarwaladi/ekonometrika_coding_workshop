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 dengan tujuan praktis: peserta keluar dari ruangan bisa menjalankan analisis sendiri. Sebutkan bahwa semua kode sudah diuji dan data tersedia lokal, jadi tidak ada kejutan teknis.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bahwa workshop ini bukan pengantar teori, tapi latihan alur kerja. Teori tetap dibahas singkat di setiap sesi sebagai konteks.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Tunjukkan bahwa hari 1 dan hari 2 memakai urutan yang sama, jadi dosen yang sudah ikut hari 1 bisa langsung membimbing di hari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Ingatkan bahwa linearmodels dan arch dipasang lewat satu sel %pip install yang sudah disiapkan di Sesi 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slide kunci untuk audiens ilmu komputer. scikit-learn tidak mengeluarkan p-value, jadi bukan pengganti statsmodels. Keduanya dipakai sesuai porsi. Contoh berdampingan ada di Sesi 4 dan Lab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Lakukan ini bersama-sama di awal. Minta satu peserta berbagi layar untuk memastikan langkahnya sama. Kesalahan paling umum di workshop adalah data belum diunggah.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alur: lihat data, pasang model, baca summary, prediksi. Tunjukkan juga kasus model linear yang gagal di hubungan melengkung sebagai jembatan ke Sesi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Pay-off dari Sesi 1: model kuadratik memperbaiki R kuadrat dari 0,007 ke 0,999 pada data iklan-penjualan. Ini momen yang bagus untuk menunjukkan kenapa bentuk fungsional penting.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urutan: estimasi, uji, perbaiki seperlunya, baru interpretasi. Ingatkan bahwa robust SE mengubah standard error, bukan koefisien.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sesi favorit audiens ilmu komputer karena dekat dengan klasifikasi. Tunjukkan bahwa efek marjinal menjawab 'berapa poin persen', jauh lebih mudah dijelaskan daripada log-odds.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Cerita pria mabuk dan anjingnya bagus untuk menjelaskan kointegrasi. Kasus IHSG-emas di latihan menunjukkan apa yang terjadi kalau ECM dipakai tanpa kointegrasi: koefisiennya terlihat signifikan tapi menyesatkan.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Jujur soal data simulasi: beta jatuh ke nol karena datanya memang ARCH. Bandingkan dengan simulasi GARCH asli (alpha 0,12 dan beta 0,83) supaya peserta melihat mesin estimasinya bekerja benar.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slide penutup yang kuat: setelah dua hari memakai data simulasi, peserta melihat hasil yang sama dengan gaya buku teks pada data asli. Tekankan bahwa semua data sudah tersedia lokal, dan jalur BPS di referensi.md membuka pintu untuk data yang lebih baru.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Keliling kelas saat latihan. Kesalahan paling sering: lupa mengganti nama kolom di rumus, dan lupa menjalankan sel data sebelum sel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Ketik ulang kode ini di depan peserta, jangan hanya dibacakan. Tunjukkan letak koefisien dan p-value di tabel summary.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Tunjukkan perbedaan output: statsmodels memberi koefisien dan p-value, scikit-learn memberi metrik prediksi. Ini memperkuat slide pembagian tugas.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Siapkan jawaban ini di ujung lidah. Sebagian besar peserta akan menemui minimal satu dari empat kendala ini.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dengan mengarahkan peserta ke proyek mini dan rubrik. Ingatkan bahwa kunci jawaban tersedia, tapi baru dibuka setelah mencoba.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4160520"/>
            <a:ext cx="2926080" cy="64008"/>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515600" cy="1097280"/>
          </a:xfrm>
          <a:prstGeom prst="rect">
            <a:avLst/>
          </a:prstGeom>
          <a:noFill/>
        </p:spPr>
        <p:txBody>
          <a:bodyPr wrap="square">
            <a:spAutoFit/>
          </a:bodyPr>
          <a:lstStyle/>
          <a:p>
            <a:pPr algn="l">
              <a:lnSpc>
                <a:spcPct val="100000"/>
              </a:lnSpc>
              <a:spcAft>
                <a:spcPts val="600"/>
              </a:spcAft>
            </a:pPr>
            <a:r>
              <a:rPr sz="4400" b="1">
                <a:solidFill>
                  <a:srgbClr val="FAF6EF"/>
                </a:solidFill>
                <a:latin typeface="Arial"/>
              </a:rPr>
              <a:t>Workshop Ekonometrika</a:t>
            </a:r>
          </a:p>
        </p:txBody>
      </p:sp>
      <p:sp>
        <p:nvSpPr>
          <p:cNvPr id="5" name="TextBox 4"/>
          <p:cNvSpPr txBox="1"/>
          <p:nvPr/>
        </p:nvSpPr>
        <p:spPr>
          <a:xfrm>
            <a:off x="822960" y="3063240"/>
            <a:ext cx="10515600" cy="914400"/>
          </a:xfrm>
          <a:prstGeom prst="rect">
            <a:avLst/>
          </a:prstGeom>
          <a:noFill/>
        </p:spPr>
        <p:txBody>
          <a:bodyPr wrap="square">
            <a:spAutoFit/>
          </a:bodyPr>
          <a:lstStyle/>
          <a:p>
            <a:pPr algn="l">
              <a:lnSpc>
                <a:spcPct val="100000"/>
              </a:lnSpc>
              <a:spcAft>
                <a:spcPts val="600"/>
              </a:spcAft>
            </a:pPr>
            <a:r>
              <a:rPr sz="3200" b="0">
                <a:solidFill>
                  <a:srgbClr val="FAF6EF"/>
                </a:solidFill>
                <a:latin typeface="Arial"/>
              </a:rPr>
              <a:t>dengan Google Colab</a:t>
            </a:r>
          </a:p>
        </p:txBody>
      </p:sp>
      <p:sp>
        <p:nvSpPr>
          <p:cNvPr id="6" name="TextBox 5"/>
          <p:cNvSpPr txBox="1"/>
          <p:nvPr/>
        </p:nvSpPr>
        <p:spPr>
          <a:xfrm>
            <a:off x="822960" y="4434840"/>
            <a:ext cx="10515600" cy="548640"/>
          </a:xfrm>
          <a:prstGeom prst="rect">
            <a:avLst/>
          </a:prstGeom>
          <a:noFill/>
        </p:spPr>
        <p:txBody>
          <a:bodyPr wrap="square">
            <a:spAutoFit/>
          </a:bodyPr>
          <a:lstStyle/>
          <a:p>
            <a:pPr algn="l">
              <a:lnSpc>
                <a:spcPct val="100000"/>
              </a:lnSpc>
              <a:spcAft>
                <a:spcPts val="600"/>
              </a:spcAft>
            </a:pPr>
            <a:r>
              <a:rPr sz="1600" b="0">
                <a:solidFill>
                  <a:srgbClr val="FFFFFF"/>
                </a:solidFill>
                <a:latin typeface="Arial"/>
              </a:rPr>
              <a:t>Hari pertama untuk dosen, hari kedua untuk mahasiswa</a:t>
            </a:r>
          </a:p>
        </p:txBody>
      </p:sp>
      <p:sp>
        <p:nvSpPr>
          <p:cNvPr id="7" name="TextBox 6"/>
          <p:cNvSpPr txBox="1"/>
          <p:nvPr/>
        </p:nvSpPr>
        <p:spPr>
          <a:xfrm>
            <a:off x="822960" y="5760720"/>
            <a:ext cx="10515600" cy="457200"/>
          </a:xfrm>
          <a:prstGeom prst="rect">
            <a:avLst/>
          </a:prstGeom>
          <a:noFill/>
        </p:spPr>
        <p:txBody>
          <a:bodyPr wrap="square">
            <a:spAutoFit/>
          </a:bodyPr>
          <a:lstStyle/>
          <a:p>
            <a:pPr algn="l">
              <a:lnSpc>
                <a:spcPct val="100000"/>
              </a:lnSpc>
              <a:spcAft>
                <a:spcPts val="600"/>
              </a:spcAft>
            </a:pPr>
            <a:r>
              <a:rPr sz="1300" b="0">
                <a:solidFill>
                  <a:srgbClr val="CFDDD6"/>
                </a:solidFill>
                <a:latin typeface="Arial"/>
              </a:rPr>
              <a:t>Materi dan data: paggalih.github.io/matkul/sem2025-01/ekonometrika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Yang dicapai dalam dua hari</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Hari 1: alur analisis lengkap, dari regresi linear sampai data panel dan GARCH.</a:t>
            </a:r>
          </a:p>
          <a:p>
            <a:pPr algn="l">
              <a:lnSpc>
                <a:spcPct val="112000"/>
              </a:lnSpc>
              <a:spcAft>
                <a:spcPts val="600"/>
              </a:spcAft>
            </a:pPr>
            <a:r>
              <a:rPr sz="1700" b="0">
                <a:solidFill>
                  <a:srgbClr val="22312B"/>
                </a:solidFill>
                <a:latin typeface="Arial"/>
              </a:rPr>
              <a:t>Hari 2: praktik terbimbing, latihan mandiri per topik, ditutup proyek mini.</a:t>
            </a:r>
          </a:p>
          <a:p>
            <a:pPr algn="l">
              <a:lnSpc>
                <a:spcPct val="112000"/>
              </a:lnSpc>
              <a:spcAft>
                <a:spcPts val="600"/>
              </a:spcAft>
            </a:pPr>
            <a:r>
              <a:rPr sz="1700" b="0">
                <a:solidFill>
                  <a:srgbClr val="22312B"/>
                </a:solidFill>
                <a:latin typeface="Arial"/>
              </a:rPr>
              <a:t>Semua data tersedia lokal di folder data/, tanpa mengambil dari internet.</a:t>
            </a:r>
          </a:p>
          <a:p>
            <a:pPr algn="l">
              <a:lnSpc>
                <a:spcPct val="112000"/>
              </a:lnSpc>
              <a:spcAft>
                <a:spcPts val="600"/>
              </a:spcAft>
            </a:pPr>
            <a:r>
              <a:rPr sz="1700" b="0">
                <a:solidFill>
                  <a:srgbClr val="22312B"/>
                </a:solidFill>
                <a:latin typeface="Arial"/>
              </a:rPr>
              <a:t>Setiap notebook sudah diuji dijalankan dari atas ke bawah tanpa error.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Peta dua hari</a:t>
            </a:r>
          </a:p>
        </p:txBody>
      </p:sp>
      <p:sp>
        <p:nvSpPr>
          <p:cNvPr id="6" name="Rectangle 5"/>
          <p:cNvSpPr/>
          <p:nvPr/>
        </p:nvSpPr>
        <p:spPr>
          <a:xfrm>
            <a:off x="502920" y="1417320"/>
            <a:ext cx="553212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17320"/>
            <a:ext cx="5532120" cy="50292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81328"/>
            <a:ext cx="5120640" cy="457200"/>
          </a:xfrm>
          <a:prstGeom prst="rect">
            <a:avLst/>
          </a:prstGeom>
          <a:noFill/>
        </p:spPr>
        <p:txBody>
          <a:bodyPr wrap="square">
            <a:spAutoFit/>
          </a:bodyPr>
          <a:lstStyle/>
          <a:p>
            <a:pPr algn="l">
              <a:lnSpc>
                <a:spcPct val="100000"/>
              </a:lnSpc>
              <a:spcAft>
                <a:spcPts val="600"/>
              </a:spcAft>
            </a:pPr>
            <a:r>
              <a:rPr sz="1800" b="1">
                <a:solidFill>
                  <a:srgbClr val="FFFFFF"/>
                </a:solidFill>
                <a:latin typeface="Arial"/>
              </a:rPr>
              <a:t>Hari 1: pengajar</a:t>
            </a:r>
          </a:p>
        </p:txBody>
      </p:sp>
      <p:sp>
        <p:nvSpPr>
          <p:cNvPr id="9" name="TextBox 8"/>
          <p:cNvSpPr txBox="1"/>
          <p:nvPr/>
        </p:nvSpPr>
        <p:spPr>
          <a:xfrm>
            <a:off x="777240" y="2103120"/>
            <a:ext cx="5029200" cy="4023360"/>
          </a:xfrm>
          <a:prstGeom prst="rect">
            <a:avLst/>
          </a:prstGeom>
          <a:noFill/>
        </p:spPr>
        <p:txBody>
          <a:bodyPr wrap="square">
            <a:spAutoFit/>
          </a:bodyPr>
          <a:lstStyle/>
          <a:p>
            <a:pPr algn="l">
              <a:lnSpc>
                <a:spcPct val="110000"/>
              </a:lnSpc>
              <a:spcAft>
                <a:spcPts val="600"/>
              </a:spcAft>
            </a:pPr>
            <a:r>
              <a:rPr sz="1500" b="0">
                <a:solidFill>
                  <a:srgbClr val="22312B"/>
                </a:solidFill>
                <a:latin typeface="Arial"/>
              </a:rPr>
              <a:t>00. Persiapan Colab dan padanan EViews</a:t>
            </a:r>
          </a:p>
          <a:p>
            <a:pPr algn="l">
              <a:lnSpc>
                <a:spcPct val="110000"/>
              </a:lnSpc>
              <a:spcAft>
                <a:spcPts val="600"/>
              </a:spcAft>
            </a:pPr>
            <a:r>
              <a:rPr sz="1500" b="0">
                <a:solidFill>
                  <a:srgbClr val="22312B"/>
                </a:solidFill>
                <a:latin typeface="Arial"/>
              </a:rPr>
              <a:t>01. Regresi linear dasar</a:t>
            </a:r>
          </a:p>
          <a:p>
            <a:pPr algn="l">
              <a:lnSpc>
                <a:spcPct val="110000"/>
              </a:lnSpc>
              <a:spcAft>
                <a:spcPts val="600"/>
              </a:spcAft>
            </a:pPr>
            <a:r>
              <a:rPr sz="1500" b="0">
                <a:solidFill>
                  <a:srgbClr val="22312B"/>
                </a:solidFill>
                <a:latin typeface="Arial"/>
              </a:rPr>
              <a:t>02. Bentuk fungsional</a:t>
            </a:r>
          </a:p>
          <a:p>
            <a:pPr algn="l">
              <a:lnSpc>
                <a:spcPct val="110000"/>
              </a:lnSpc>
              <a:spcAft>
                <a:spcPts val="600"/>
              </a:spcAft>
            </a:pPr>
            <a:r>
              <a:rPr sz="1500" b="0">
                <a:solidFill>
                  <a:srgbClr val="22312B"/>
                </a:solidFill>
                <a:latin typeface="Arial"/>
              </a:rPr>
              <a:t>03. Dummy dan uji asumsi klasik</a:t>
            </a:r>
          </a:p>
          <a:p>
            <a:pPr algn="l">
              <a:lnSpc>
                <a:spcPct val="110000"/>
              </a:lnSpc>
              <a:spcAft>
                <a:spcPts val="600"/>
              </a:spcAft>
            </a:pPr>
            <a:r>
              <a:rPr sz="1500" b="0">
                <a:solidFill>
                  <a:srgbClr val="22312B"/>
                </a:solidFill>
                <a:latin typeface="Arial"/>
              </a:rPr>
              <a:t>04. Model kategorikal</a:t>
            </a:r>
          </a:p>
          <a:p>
            <a:pPr algn="l">
              <a:lnSpc>
                <a:spcPct val="110000"/>
              </a:lnSpc>
              <a:spcAft>
                <a:spcPts val="600"/>
              </a:spcAft>
            </a:pPr>
            <a:r>
              <a:rPr sz="1500" b="0">
                <a:solidFill>
                  <a:srgbClr val="22312B"/>
                </a:solidFill>
                <a:latin typeface="Arial"/>
              </a:rPr>
              <a:t>05. Deret waktu dan ECM</a:t>
            </a:r>
          </a:p>
          <a:p>
            <a:pPr algn="l">
              <a:lnSpc>
                <a:spcPct val="110000"/>
              </a:lnSpc>
              <a:spcAft>
                <a:spcPts val="600"/>
              </a:spcAft>
            </a:pPr>
            <a:r>
              <a:rPr sz="1500" b="0">
                <a:solidFill>
                  <a:srgbClr val="22312B"/>
                </a:solidFill>
                <a:latin typeface="Arial"/>
              </a:rPr>
              <a:t>06. Data panel dan GARCH</a:t>
            </a:r>
          </a:p>
        </p:txBody>
      </p:sp>
      <p:sp>
        <p:nvSpPr>
          <p:cNvPr id="10" name="Rectangle 9"/>
          <p:cNvSpPr/>
          <p:nvPr/>
        </p:nvSpPr>
        <p:spPr>
          <a:xfrm>
            <a:off x="6263640" y="1417320"/>
            <a:ext cx="553212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17320"/>
            <a:ext cx="5532120" cy="502920"/>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481328"/>
            <a:ext cx="5120640" cy="457200"/>
          </a:xfrm>
          <a:prstGeom prst="rect">
            <a:avLst/>
          </a:prstGeom>
          <a:noFill/>
        </p:spPr>
        <p:txBody>
          <a:bodyPr wrap="square">
            <a:spAutoFit/>
          </a:bodyPr>
          <a:lstStyle/>
          <a:p>
            <a:pPr algn="l">
              <a:lnSpc>
                <a:spcPct val="100000"/>
              </a:lnSpc>
              <a:spcAft>
                <a:spcPts val="600"/>
              </a:spcAft>
            </a:pPr>
            <a:r>
              <a:rPr sz="1800" b="1">
                <a:solidFill>
                  <a:srgbClr val="FFFFFF"/>
                </a:solidFill>
                <a:latin typeface="Arial"/>
              </a:rPr>
              <a:t>Hari 2: mahasiswa</a:t>
            </a:r>
          </a:p>
        </p:txBody>
      </p:sp>
      <p:sp>
        <p:nvSpPr>
          <p:cNvPr id="13" name="TextBox 12"/>
          <p:cNvSpPr txBox="1"/>
          <p:nvPr/>
        </p:nvSpPr>
        <p:spPr>
          <a:xfrm>
            <a:off x="6537960" y="2103120"/>
            <a:ext cx="5029200" cy="4023360"/>
          </a:xfrm>
          <a:prstGeom prst="rect">
            <a:avLst/>
          </a:prstGeom>
          <a:noFill/>
        </p:spPr>
        <p:txBody>
          <a:bodyPr wrap="square">
            <a:spAutoFit/>
          </a:bodyPr>
          <a:lstStyle/>
          <a:p>
            <a:pPr algn="l">
              <a:lnSpc>
                <a:spcPct val="110000"/>
              </a:lnSpc>
              <a:spcAft>
                <a:spcPts val="600"/>
              </a:spcAft>
            </a:pPr>
            <a:r>
              <a:rPr sz="1500" b="0">
                <a:solidFill>
                  <a:srgbClr val="22312B"/>
                </a:solidFill>
                <a:latin typeface="Arial"/>
              </a:rPr>
              <a:t>Lab 0. Mulai dari nol</a:t>
            </a:r>
          </a:p>
          <a:p>
            <a:pPr algn="l">
              <a:lnSpc>
                <a:spcPct val="110000"/>
              </a:lnSpc>
              <a:spcAft>
                <a:spcPts val="600"/>
              </a:spcAft>
            </a:pPr>
            <a:r>
              <a:rPr sz="1500" b="0">
                <a:solidFill>
                  <a:srgbClr val="22312B"/>
                </a:solidFill>
                <a:latin typeface="Arial"/>
              </a:rPr>
              <a:t>Lab 1. Regresi dan interpretasi</a:t>
            </a:r>
          </a:p>
          <a:p>
            <a:pPr algn="l">
              <a:lnSpc>
                <a:spcPct val="110000"/>
              </a:lnSpc>
              <a:spcAft>
                <a:spcPts val="600"/>
              </a:spcAft>
            </a:pPr>
            <a:r>
              <a:rPr sz="1500" b="0">
                <a:solidFill>
                  <a:srgbClr val="22312B"/>
                </a:solidFill>
                <a:latin typeface="Arial"/>
              </a:rPr>
              <a:t>Lab 2. Memilih bentuk model</a:t>
            </a:r>
          </a:p>
          <a:p>
            <a:pPr algn="l">
              <a:lnSpc>
                <a:spcPct val="110000"/>
              </a:lnSpc>
              <a:spcAft>
                <a:spcPts val="600"/>
              </a:spcAft>
            </a:pPr>
            <a:r>
              <a:rPr sz="1500" b="0">
                <a:solidFill>
                  <a:srgbClr val="22312B"/>
                </a:solidFill>
                <a:latin typeface="Arial"/>
              </a:rPr>
              <a:t>Lab 3. Dummy dan diagnostik</a:t>
            </a:r>
          </a:p>
          <a:p>
            <a:pPr algn="l">
              <a:lnSpc>
                <a:spcPct val="110000"/>
              </a:lnSpc>
              <a:spcAft>
                <a:spcPts val="600"/>
              </a:spcAft>
            </a:pPr>
            <a:r>
              <a:rPr sz="1500" b="0">
                <a:solidFill>
                  <a:srgbClr val="22312B"/>
                </a:solidFill>
                <a:latin typeface="Arial"/>
              </a:rPr>
              <a:t>Lab 4. Logit, ordinal, Poisson</a:t>
            </a:r>
          </a:p>
          <a:p>
            <a:pPr algn="l">
              <a:lnSpc>
                <a:spcPct val="110000"/>
              </a:lnSpc>
              <a:spcAft>
                <a:spcPts val="600"/>
              </a:spcAft>
            </a:pPr>
            <a:r>
              <a:rPr sz="1500" b="0">
                <a:solidFill>
                  <a:srgbClr val="22312B"/>
                </a:solidFill>
                <a:latin typeface="Arial"/>
              </a:rPr>
              <a:t>Lab 5. Deret waktu dan panel</a:t>
            </a:r>
          </a:p>
          <a:p>
            <a:pPr algn="l">
              <a:lnSpc>
                <a:spcPct val="110000"/>
              </a:lnSpc>
              <a:spcAft>
                <a:spcPts val="600"/>
              </a:spcAft>
            </a:pPr>
            <a:r>
              <a:rPr sz="1500" b="0">
                <a:solidFill>
                  <a:srgbClr val="22312B"/>
                </a:solidFill>
                <a:latin typeface="Arial"/>
              </a:rPr>
              <a:t>Lab 6. Data Indonesia asli</a:t>
            </a:r>
          </a:p>
          <a:p>
            <a:pPr algn="l">
              <a:lnSpc>
                <a:spcPct val="110000"/>
              </a:lnSpc>
              <a:spcAft>
                <a:spcPts val="600"/>
              </a:spcAft>
            </a:pPr>
            <a:r>
              <a:rPr sz="1500" b="0">
                <a:solidFill>
                  <a:srgbClr val="22312B"/>
                </a:solidFill>
                <a:latin typeface="Arial"/>
              </a:rPr>
              <a:t>Proyek mini dan rubrik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Alat yang dipakai</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Google Colab: berjalan di browser, tidak perlu instalasi.</a:t>
            </a:r>
          </a:p>
          <a:p>
            <a:pPr algn="l">
              <a:lnSpc>
                <a:spcPct val="112000"/>
              </a:lnSpc>
              <a:spcAft>
                <a:spcPts val="600"/>
              </a:spcAft>
            </a:pPr>
            <a:r>
              <a:rPr sz="1700" b="0">
                <a:solidFill>
                  <a:srgbClr val="22312B"/>
                </a:solidFill>
                <a:latin typeface="Arial"/>
              </a:rPr>
              <a:t>pandas dan numpy: mengolah tabel dan angka.</a:t>
            </a:r>
          </a:p>
          <a:p>
            <a:pPr algn="l">
              <a:lnSpc>
                <a:spcPct val="112000"/>
              </a:lnSpc>
              <a:spcAft>
                <a:spcPts val="600"/>
              </a:spcAft>
            </a:pPr>
            <a:r>
              <a:rPr sz="1700" b="0">
                <a:solidFill>
                  <a:srgbClr val="22312B"/>
                </a:solidFill>
                <a:latin typeface="Arial"/>
              </a:rPr>
              <a:t>statsmodels: estimasi, p-value, dan semua uji ekonometrika.</a:t>
            </a:r>
          </a:p>
          <a:p>
            <a:pPr algn="l">
              <a:lnSpc>
                <a:spcPct val="112000"/>
              </a:lnSpc>
              <a:spcAft>
                <a:spcPts val="600"/>
              </a:spcAft>
            </a:pPr>
            <a:r>
              <a:rPr sz="1700" b="0">
                <a:solidFill>
                  <a:srgbClr val="22312B"/>
                </a:solidFill>
                <a:latin typeface="Arial"/>
              </a:rPr>
              <a:t>scikit-learn: prediksi, pembagian data, dan metrik klasifikasi.</a:t>
            </a:r>
          </a:p>
          <a:p>
            <a:pPr algn="l">
              <a:lnSpc>
                <a:spcPct val="112000"/>
              </a:lnSpc>
              <a:spcAft>
                <a:spcPts val="600"/>
              </a:spcAft>
            </a:pPr>
            <a:r>
              <a:rPr sz="1700" b="0">
                <a:solidFill>
                  <a:srgbClr val="22312B"/>
                </a:solidFill>
                <a:latin typeface="Arial"/>
              </a:rPr>
              <a:t>matplotlib dan seaborn: grafik. linearmodels dan arch: panel dan GARCH.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statsmodels dan scikit-learn: pembagian tugas</a:t>
            </a:r>
          </a:p>
        </p:txBody>
      </p:sp>
      <p:sp>
        <p:nvSpPr>
          <p:cNvPr id="6" name="Rectangle 5"/>
          <p:cNvSpPr/>
          <p:nvPr/>
        </p:nvSpPr>
        <p:spPr>
          <a:xfrm>
            <a:off x="502920" y="1417320"/>
            <a:ext cx="553212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17320"/>
            <a:ext cx="5532120" cy="50292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81328"/>
            <a:ext cx="5120640" cy="457200"/>
          </a:xfrm>
          <a:prstGeom prst="rect">
            <a:avLst/>
          </a:prstGeom>
          <a:noFill/>
        </p:spPr>
        <p:txBody>
          <a:bodyPr wrap="square">
            <a:spAutoFit/>
          </a:bodyPr>
          <a:lstStyle/>
          <a:p>
            <a:pPr algn="l">
              <a:lnSpc>
                <a:spcPct val="100000"/>
              </a:lnSpc>
              <a:spcAft>
                <a:spcPts val="600"/>
              </a:spcAft>
            </a:pPr>
            <a:r>
              <a:rPr sz="1800" b="1">
                <a:solidFill>
                  <a:srgbClr val="FFFFFF"/>
                </a:solidFill>
                <a:latin typeface="Arial"/>
              </a:rPr>
              <a:t>statsmodels</a:t>
            </a:r>
          </a:p>
        </p:txBody>
      </p:sp>
      <p:sp>
        <p:nvSpPr>
          <p:cNvPr id="9" name="TextBox 8"/>
          <p:cNvSpPr txBox="1"/>
          <p:nvPr/>
        </p:nvSpPr>
        <p:spPr>
          <a:xfrm>
            <a:off x="777240" y="2103120"/>
            <a:ext cx="5029200" cy="4023360"/>
          </a:xfrm>
          <a:prstGeom prst="rect">
            <a:avLst/>
          </a:prstGeom>
          <a:noFill/>
        </p:spPr>
        <p:txBody>
          <a:bodyPr wrap="square">
            <a:spAutoFit/>
          </a:bodyPr>
          <a:lstStyle/>
          <a:p>
            <a:pPr algn="l">
              <a:lnSpc>
                <a:spcPct val="110000"/>
              </a:lnSpc>
              <a:spcAft>
                <a:spcPts val="600"/>
              </a:spcAft>
            </a:pPr>
            <a:r>
              <a:rPr sz="1500" b="0">
                <a:solidFill>
                  <a:srgbClr val="22312B"/>
                </a:solidFill>
                <a:latin typeface="Arial"/>
              </a:rPr>
              <a:t>Koefisien, standard error, p-value</a:t>
            </a:r>
          </a:p>
          <a:p>
            <a:pPr algn="l">
              <a:lnSpc>
                <a:spcPct val="110000"/>
              </a:lnSpc>
              <a:spcAft>
                <a:spcPts val="600"/>
              </a:spcAft>
            </a:pPr>
            <a:r>
              <a:rPr sz="1500" b="0">
                <a:solidFill>
                  <a:srgbClr val="22312B"/>
                </a:solidFill>
                <a:latin typeface="Arial"/>
              </a:rPr>
              <a:t>Uji asumsi: VIF, Breusch-Pagan, Jarque-Bera</a:t>
            </a:r>
          </a:p>
          <a:p>
            <a:pPr algn="l">
              <a:lnSpc>
                <a:spcPct val="110000"/>
              </a:lnSpc>
              <a:spcAft>
                <a:spcPts val="600"/>
              </a:spcAft>
            </a:pPr>
            <a:r>
              <a:rPr sz="1500" b="0">
                <a:solidFill>
                  <a:srgbClr val="22312B"/>
                </a:solidFill>
                <a:latin typeface="Arial"/>
              </a:rPr>
              <a:t>ADF, kointegrasi, ARIMA, panel, GARCH</a:t>
            </a:r>
          </a:p>
          <a:p>
            <a:pPr algn="l">
              <a:lnSpc>
                <a:spcPct val="110000"/>
              </a:lnSpc>
              <a:spcAft>
                <a:spcPts val="600"/>
              </a:spcAft>
            </a:pPr>
            <a:r>
              <a:rPr sz="1500" b="0">
                <a:solidFill>
                  <a:srgbClr val="22312B"/>
                </a:solidFill>
                <a:latin typeface="Arial"/>
              </a:rPr>
              <a:t>Semua model ekonometrika di workshop ini</a:t>
            </a:r>
          </a:p>
        </p:txBody>
      </p:sp>
      <p:sp>
        <p:nvSpPr>
          <p:cNvPr id="10" name="Rectangle 9"/>
          <p:cNvSpPr/>
          <p:nvPr/>
        </p:nvSpPr>
        <p:spPr>
          <a:xfrm>
            <a:off x="6263640" y="1417320"/>
            <a:ext cx="553212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17320"/>
            <a:ext cx="5532120" cy="502920"/>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481328"/>
            <a:ext cx="5120640" cy="457200"/>
          </a:xfrm>
          <a:prstGeom prst="rect">
            <a:avLst/>
          </a:prstGeom>
          <a:noFill/>
        </p:spPr>
        <p:txBody>
          <a:bodyPr wrap="square">
            <a:spAutoFit/>
          </a:bodyPr>
          <a:lstStyle/>
          <a:p>
            <a:pPr algn="l">
              <a:lnSpc>
                <a:spcPct val="100000"/>
              </a:lnSpc>
              <a:spcAft>
                <a:spcPts val="600"/>
              </a:spcAft>
            </a:pPr>
            <a:r>
              <a:rPr sz="1800" b="1">
                <a:solidFill>
                  <a:srgbClr val="FFFFFF"/>
                </a:solidFill>
                <a:latin typeface="Arial"/>
              </a:rPr>
              <a:t>scikit-learn</a:t>
            </a:r>
          </a:p>
        </p:txBody>
      </p:sp>
      <p:sp>
        <p:nvSpPr>
          <p:cNvPr id="13" name="TextBox 12"/>
          <p:cNvSpPr txBox="1"/>
          <p:nvPr/>
        </p:nvSpPr>
        <p:spPr>
          <a:xfrm>
            <a:off x="6537960" y="2103120"/>
            <a:ext cx="5029200" cy="4023360"/>
          </a:xfrm>
          <a:prstGeom prst="rect">
            <a:avLst/>
          </a:prstGeom>
          <a:noFill/>
        </p:spPr>
        <p:txBody>
          <a:bodyPr wrap="square">
            <a:spAutoFit/>
          </a:bodyPr>
          <a:lstStyle/>
          <a:p>
            <a:pPr algn="l">
              <a:lnSpc>
                <a:spcPct val="110000"/>
              </a:lnSpc>
              <a:spcAft>
                <a:spcPts val="600"/>
              </a:spcAft>
            </a:pPr>
            <a:r>
              <a:rPr sz="1500" b="0">
                <a:solidFill>
                  <a:srgbClr val="22312B"/>
                </a:solidFill>
                <a:latin typeface="Arial"/>
              </a:rPr>
              <a:t>Prediksi nilai dan peluang</a:t>
            </a:r>
          </a:p>
          <a:p>
            <a:pPr algn="l">
              <a:lnSpc>
                <a:spcPct val="110000"/>
              </a:lnSpc>
              <a:spcAft>
                <a:spcPts val="600"/>
              </a:spcAft>
            </a:pPr>
            <a:r>
              <a:rPr sz="1500" b="0">
                <a:solidFill>
                  <a:srgbClr val="22312B"/>
                </a:solidFill>
                <a:latin typeface="Arial"/>
              </a:rPr>
              <a:t>Pembagian data latih dan uji</a:t>
            </a:r>
          </a:p>
          <a:p>
            <a:pPr algn="l">
              <a:lnSpc>
                <a:spcPct val="110000"/>
              </a:lnSpc>
              <a:spcAft>
                <a:spcPts val="600"/>
              </a:spcAft>
            </a:pPr>
            <a:r>
              <a:rPr sz="1500" b="0">
                <a:solidFill>
                  <a:srgbClr val="22312B"/>
                </a:solidFill>
                <a:latin typeface="Arial"/>
              </a:rPr>
              <a:t>Metrik: akurasi, presisi, recall, ROC AUC</a:t>
            </a:r>
          </a:p>
          <a:p>
            <a:pPr algn="l">
              <a:lnSpc>
                <a:spcPct val="110000"/>
              </a:lnSpc>
              <a:spcAft>
                <a:spcPts val="600"/>
              </a:spcAft>
            </a:pPr>
            <a:r>
              <a:rPr sz="1500" b="0">
                <a:solidFill>
                  <a:srgbClr val="22312B"/>
                </a:solidFill>
                <a:latin typeface="Arial"/>
              </a:rPr>
              <a:t>Regularisasi otomatis untuk data yang sulit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Persiapan data (5 menit sebelum mulai)</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Unduh paket workshop, lalu unggah data-ekonometrika.zip ke panel Files di Colab.</a:t>
            </a:r>
          </a:p>
          <a:p>
            <a:pPr algn="l">
              <a:lnSpc>
                <a:spcPct val="112000"/>
              </a:lnSpc>
              <a:spcAft>
                <a:spcPts val="600"/>
              </a:spcAft>
            </a:pPr>
            <a:r>
              <a:rPr sz="1700" b="0">
                <a:solidFill>
                  <a:srgbClr val="22312B"/>
                </a:solidFill>
                <a:latin typeface="Arial"/>
              </a:rPr>
              <a:t>Jalankan sel pertama di notebook: zip diekstrak otomatis ke folder data/.</a:t>
            </a:r>
          </a:p>
          <a:p>
            <a:pPr algn="l">
              <a:lnSpc>
                <a:spcPct val="112000"/>
              </a:lnSpc>
              <a:spcAft>
                <a:spcPts val="600"/>
              </a:spcAft>
            </a:pPr>
            <a:r>
              <a:rPr sz="1700" b="0">
                <a:solidFill>
                  <a:srgbClr val="22312B"/>
                </a:solidFill>
                <a:latin typeface="Arial"/>
              </a:rPr>
              <a:t>Semua notebook membaca data lokal, contoh: pd.read_csv("data/uts-2.csv").</a:t>
            </a:r>
          </a:p>
          <a:p>
            <a:pPr algn="l">
              <a:lnSpc>
                <a:spcPct val="112000"/>
              </a:lnSpc>
              <a:spcAft>
                <a:spcPts val="600"/>
              </a:spcAft>
            </a:pPr>
            <a:r>
              <a:rPr sz="1700" b="0">
                <a:solidFill>
                  <a:srgbClr val="22312B"/>
                </a:solidFill>
                <a:latin typeface="Arial"/>
              </a:rPr>
              <a:t>Kalau folder data/ kosong, sel pertama akan mengingatkan untuk mengunggah zip.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Sesi 1: regresi linear</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Mulai dari scatter plot, jangan langsung ke tabel.</a:t>
            </a:r>
          </a:p>
          <a:p>
            <a:pPr algn="l">
              <a:lnSpc>
                <a:spcPct val="112000"/>
              </a:lnSpc>
              <a:spcAft>
                <a:spcPts val="600"/>
              </a:spcAft>
            </a:pPr>
            <a:r>
              <a:rPr sz="1700" b="0">
                <a:solidFill>
                  <a:srgbClr val="22312B"/>
                </a:solidFill>
                <a:latin typeface="Arial"/>
              </a:rPr>
              <a:t>Baca koefisien sebagai perubahan Y per satu unit X, ceteris paribus.</a:t>
            </a:r>
          </a:p>
          <a:p>
            <a:pPr algn="l">
              <a:lnSpc>
                <a:spcPct val="112000"/>
              </a:lnSpc>
              <a:spcAft>
                <a:spcPts val="600"/>
              </a:spcAft>
            </a:pPr>
            <a:r>
              <a:rPr sz="1700" b="0">
                <a:solidFill>
                  <a:srgbClr val="22312B"/>
                </a:solidFill>
                <a:latin typeface="Arial"/>
              </a:rPr>
              <a:t>Uji t untuk satu variabel, uji F untuk model keseluruhan.</a:t>
            </a:r>
          </a:p>
          <a:p>
            <a:pPr algn="l">
              <a:lnSpc>
                <a:spcPct val="112000"/>
              </a:lnSpc>
              <a:spcAft>
                <a:spcPts val="600"/>
              </a:spcAft>
            </a:pPr>
            <a:r>
              <a:rPr sz="1700" b="0">
                <a:solidFill>
                  <a:srgbClr val="22312B"/>
                </a:solidFill>
                <a:latin typeface="Arial"/>
              </a:rPr>
              <a:t>Pesan: R kuadrat tinggi bukan bukti model benar atau hubungan kausal.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Sesi 2: bentuk fungsional</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Log-log untuk elastisitas, contoh fungsi produksi Cobb-Douglas.</a:t>
            </a:r>
          </a:p>
          <a:p>
            <a:pPr algn="l">
              <a:lnSpc>
                <a:spcPct val="112000"/>
              </a:lnSpc>
              <a:spcAft>
                <a:spcPts val="600"/>
              </a:spcAft>
            </a:pPr>
            <a:r>
              <a:rPr sz="1700" b="0">
                <a:solidFill>
                  <a:srgbClr val="22312B"/>
                </a:solidFill>
                <a:latin typeface="Arial"/>
              </a:rPr>
              <a:t>Reciprocal untuk hubungan yang punya batas atau titik jenuh.</a:t>
            </a:r>
          </a:p>
          <a:p>
            <a:pPr algn="l">
              <a:lnSpc>
                <a:spcPct val="112000"/>
              </a:lnSpc>
              <a:spcAft>
                <a:spcPts val="600"/>
              </a:spcAft>
            </a:pPr>
            <a:r>
              <a:rPr sz="1700" b="0">
                <a:solidFill>
                  <a:srgbClr val="22312B"/>
                </a:solidFill>
                <a:latin typeface="Arial"/>
              </a:rPr>
              <a:t>Polinomial untuk pola naik lalu turun, titik puncak dihitung dari koefisien.</a:t>
            </a:r>
          </a:p>
          <a:p>
            <a:pPr algn="l">
              <a:lnSpc>
                <a:spcPct val="112000"/>
              </a:lnSpc>
              <a:spcAft>
                <a:spcPts val="600"/>
              </a:spcAft>
            </a:pPr>
            <a:r>
              <a:rPr sz="1700" b="0">
                <a:solidFill>
                  <a:srgbClr val="22312B"/>
                </a:solidFill>
                <a:latin typeface="Arial"/>
              </a:rPr>
              <a:t>Aturan praktis: teori dulu, baru bandingkan R kuadrat pada Y yang sama.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Sesi 3: dummy dan uji asumsi klasik</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Dummy selalu punya kategori basis. Sebut basisnya sebelum menafsirkan.</a:t>
            </a:r>
          </a:p>
          <a:p>
            <a:pPr algn="l">
              <a:lnSpc>
                <a:spcPct val="112000"/>
              </a:lnSpc>
              <a:spcAft>
                <a:spcPts val="600"/>
              </a:spcAft>
            </a:pPr>
            <a:r>
              <a:rPr sz="1700" b="0">
                <a:solidFill>
                  <a:srgbClr val="22312B"/>
                </a:solidFill>
                <a:latin typeface="Arial"/>
              </a:rPr>
              <a:t>Multikolinearitas lewat VIF, heteroskedastisitas lewat Breusch-Pagan dan White.</a:t>
            </a:r>
          </a:p>
          <a:p>
            <a:pPr algn="l">
              <a:lnSpc>
                <a:spcPct val="112000"/>
              </a:lnSpc>
              <a:spcAft>
                <a:spcPts val="600"/>
              </a:spcAft>
            </a:pPr>
            <a:r>
              <a:rPr sz="1700" b="0">
                <a:solidFill>
                  <a:srgbClr val="22312B"/>
                </a:solidFill>
                <a:latin typeface="Arial"/>
              </a:rPr>
              <a:t>Normalitas lewat Jarque-Bera, autokorelasi lewat Durbin-Watson dan Breusch-Godfrey.</a:t>
            </a:r>
          </a:p>
          <a:p>
            <a:pPr algn="l">
              <a:lnSpc>
                <a:spcPct val="112000"/>
              </a:lnSpc>
              <a:spcAft>
                <a:spcPts val="600"/>
              </a:spcAft>
            </a:pPr>
            <a:r>
              <a:rPr sz="1700" b="0">
                <a:solidFill>
                  <a:srgbClr val="22312B"/>
                </a:solidFill>
                <a:latin typeface="Arial"/>
              </a:rPr>
              <a:t>Obat praktis: robust SE untuk heteroskedastisitas, HAC untuk autokorelasi.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Sesi 4: model kategorikal dan terbatas</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Logit dan probit untuk Y 0/1. Baca odds ratio dan efek marjinal, bukan koefisien mentah.</a:t>
            </a:r>
          </a:p>
          <a:p>
            <a:pPr algn="l">
              <a:lnSpc>
                <a:spcPct val="112000"/>
              </a:lnSpc>
              <a:spcAft>
                <a:spcPts val="600"/>
              </a:spcAft>
            </a:pPr>
            <a:r>
              <a:rPr sz="1700" b="0">
                <a:solidFill>
                  <a:srgbClr val="22312B"/>
                </a:solidFill>
                <a:latin typeface="Arial"/>
              </a:rPr>
              <a:t>Multinomial untuk kategori tanpa urutan, ordinal untuk kategori berurutan.</a:t>
            </a:r>
          </a:p>
          <a:p>
            <a:pPr algn="l">
              <a:lnSpc>
                <a:spcPct val="112000"/>
              </a:lnSpc>
              <a:spcAft>
                <a:spcPts val="600"/>
              </a:spcAft>
            </a:pPr>
            <a:r>
              <a:rPr sz="1700" b="0">
                <a:solidFill>
                  <a:srgbClr val="22312B"/>
                </a:solidFill>
                <a:latin typeface="Arial"/>
              </a:rPr>
              <a:t>Tobit untuk data tersensor, Poisson untuk data hitungan.</a:t>
            </a:r>
          </a:p>
          <a:p>
            <a:pPr algn="l">
              <a:lnSpc>
                <a:spcPct val="112000"/>
              </a:lnSpc>
              <a:spcAft>
                <a:spcPts val="600"/>
              </a:spcAft>
            </a:pPr>
            <a:r>
              <a:rPr sz="1700" b="0">
                <a:solidFill>
                  <a:srgbClr val="22312B"/>
                </a:solidFill>
                <a:latin typeface="Arial"/>
              </a:rPr>
              <a:t>Kasus perfect separation dibahas terbuka: kenapa terjadi dan bagaimana menanganinya.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Sesi 5: deret waktu, kointegrasi, dan ECM</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Urutan wajib: plot data, uji ADF, selisih kalau perlu, baru model.</a:t>
            </a:r>
          </a:p>
          <a:p>
            <a:pPr algn="l">
              <a:lnSpc>
                <a:spcPct val="112000"/>
              </a:lnSpc>
              <a:spcAft>
                <a:spcPts val="600"/>
              </a:spcAft>
            </a:pPr>
            <a:r>
              <a:rPr sz="1700" b="0">
                <a:solidFill>
                  <a:srgbClr val="22312B"/>
                </a:solidFill>
                <a:latin typeface="Arial"/>
              </a:rPr>
              <a:t>ARIMA untuk peramalan, pilih orde dengan AIC plus prinsip parsimoni.</a:t>
            </a:r>
          </a:p>
          <a:p>
            <a:pPr algn="l">
              <a:lnSpc>
                <a:spcPct val="112000"/>
              </a:lnSpc>
              <a:spcAft>
                <a:spcPts val="600"/>
              </a:spcAft>
            </a:pPr>
            <a:r>
              <a:rPr sz="1700" b="0">
                <a:solidFill>
                  <a:srgbClr val="22312B"/>
                </a:solidFill>
                <a:latin typeface="Arial"/>
              </a:rPr>
              <a:t>Kointegrasi diperiksa sebelum meregresikan dua variabel yang bertren.</a:t>
            </a:r>
          </a:p>
          <a:p>
            <a:pPr algn="l">
              <a:lnSpc>
                <a:spcPct val="112000"/>
              </a:lnSpc>
              <a:spcAft>
                <a:spcPts val="600"/>
              </a:spcAft>
            </a:pPr>
            <a:r>
              <a:rPr sz="1700" b="0">
                <a:solidFill>
                  <a:srgbClr val="22312B"/>
                </a:solidFill>
                <a:latin typeface="Arial"/>
              </a:rPr>
              <a:t>ECM: koefisien koreksi harus negatif dan signifikan. Contoh: 70 persen koreksi per periode.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Sesi 6: data panel dan GARCH</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Panel: pilih CEM, FEM, atau REM lewat uji Chow dan Hausman.</a:t>
            </a:r>
          </a:p>
          <a:p>
            <a:pPr algn="l">
              <a:lnSpc>
                <a:spcPct val="112000"/>
              </a:lnSpc>
              <a:spcAft>
                <a:spcPts val="600"/>
              </a:spcAft>
            </a:pPr>
            <a:r>
              <a:rPr sz="1700" b="0">
                <a:solidFill>
                  <a:srgbClr val="22312B"/>
                </a:solidFill>
                <a:latin typeface="Arial"/>
              </a:rPr>
              <a:t>Laporkan p-value mentah Hausman, jangan hanya menulis p &lt; 0,05.</a:t>
            </a:r>
          </a:p>
          <a:p>
            <a:pPr algn="l">
              <a:lnSpc>
                <a:spcPct val="112000"/>
              </a:lnSpc>
              <a:spcAft>
                <a:spcPts val="600"/>
              </a:spcAft>
            </a:pPr>
            <a:r>
              <a:rPr sz="1700" b="0">
                <a:solidFill>
                  <a:srgbClr val="22312B"/>
                </a:solidFill>
                <a:latin typeface="Arial"/>
              </a:rPr>
              <a:t>GARCH memodelkan varians: alpha untuk guncangan baru, beta untuk persistensi.</a:t>
            </a:r>
          </a:p>
          <a:p>
            <a:pPr algn="l">
              <a:lnSpc>
                <a:spcPct val="112000"/>
              </a:lnSpc>
              <a:spcAft>
                <a:spcPts val="600"/>
              </a:spcAft>
            </a:pPr>
            <a:r>
              <a:rPr sz="1700" b="0">
                <a:solidFill>
                  <a:srgbClr val="22312B"/>
                </a:solidFill>
                <a:latin typeface="Arial"/>
              </a:rPr>
              <a:t>Data simulasi di workshop murni ARCH; simulasi GARCH asli disertakan sebagai pembanding.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Lab 6: data Indonesia asli</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IHSG sejak 1990: GARCH beta 0,82, persistensi 0,99; era krisis 1998 menyentuh IGARCH.</a:t>
            </a:r>
          </a:p>
          <a:p>
            <a:pPr algn="l">
              <a:lnSpc>
                <a:spcPct val="112000"/>
              </a:lnSpc>
              <a:spcAft>
                <a:spcPts val="600"/>
              </a:spcAft>
            </a:pPr>
            <a:r>
              <a:rPr sz="1700" b="0">
                <a:solidFill>
                  <a:srgbClr val="22312B"/>
                </a:solidFill>
                <a:latin typeface="Arial"/>
              </a:rPr>
              <a:t>Inflasi bulanan sejak 1968 dan kurs tahunan sejak 1967: krisis 1998 terlihat jelas, inflasi 58 persen dan rupiah melemah 244 persen.</a:t>
            </a:r>
          </a:p>
          <a:p>
            <a:pPr algn="l">
              <a:lnSpc>
                <a:spcPct val="112000"/>
              </a:lnSpc>
              <a:spcAft>
                <a:spcPts val="600"/>
              </a:spcAft>
            </a:pPr>
            <a:r>
              <a:rPr sz="1700" b="0">
                <a:solidFill>
                  <a:srgbClr val="22312B"/>
                </a:solidFill>
                <a:latin typeface="Arial"/>
              </a:rPr>
              <a:t>Panel 10 negara ASEAN dari World Bank dan cross-section 34 provinsi dari kompilasi BPS.</a:t>
            </a:r>
          </a:p>
          <a:p>
            <a:pPr algn="l">
              <a:lnSpc>
                <a:spcPct val="112000"/>
              </a:lnSpc>
              <a:spcAft>
                <a:spcPts val="600"/>
              </a:spcAft>
            </a:pPr>
            <a:r>
              <a:rPr sz="1700" b="0">
                <a:solidFill>
                  <a:srgbClr val="22312B"/>
                </a:solidFill>
                <a:latin typeface="Arial"/>
              </a:rPr>
              <a:t>Sumber data dan cara memperbaruinya ada di referensi.md dan scripts/fetch_indonesia_data.py.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Alur hari 2 dan aturan latihan</a:t>
            </a:r>
          </a:p>
        </p:txBody>
      </p:sp>
      <p:sp>
        <p:nvSpPr>
          <p:cNvPr id="6" name="TextBox 5"/>
          <p:cNvSpPr txBox="1"/>
          <p:nvPr/>
        </p:nvSpPr>
        <p:spPr>
          <a:xfrm>
            <a:off x="594360" y="1417320"/>
            <a:ext cx="10972800" cy="5257800"/>
          </a:xfrm>
          <a:prstGeom prst="rect">
            <a:avLst/>
          </a:prstGeom>
          <a:noFill/>
        </p:spPr>
        <p:txBody>
          <a:bodyPr wrap="square">
            <a:spAutoFit/>
          </a:bodyPr>
          <a:lstStyle/>
          <a:p>
            <a:pPr algn="l">
              <a:lnSpc>
                <a:spcPct val="112000"/>
              </a:lnSpc>
              <a:spcAft>
                <a:spcPts val="600"/>
              </a:spcAft>
            </a:pPr>
            <a:r>
              <a:rPr sz="1700" b="0">
                <a:solidFill>
                  <a:srgbClr val="22312B"/>
                </a:solidFill>
                <a:latin typeface="Arial"/>
              </a:rPr>
              <a:t>Setiap lab berisi contoh terbimbing lalu latihan mandiri di sel kosong.</a:t>
            </a:r>
          </a:p>
          <a:p>
            <a:pPr algn="l">
              <a:lnSpc>
                <a:spcPct val="112000"/>
              </a:lnSpc>
              <a:spcAft>
                <a:spcPts val="600"/>
              </a:spcAft>
            </a:pPr>
            <a:r>
              <a:rPr sz="1700" b="0">
                <a:solidFill>
                  <a:srgbClr val="22312B"/>
                </a:solidFill>
                <a:latin typeface="Arial"/>
              </a:rPr>
              <a:t>Kunci lengkap ada di folder kunci/. Pakai setelah mencoba sendiri.</a:t>
            </a:r>
          </a:p>
          <a:p>
            <a:pPr algn="l">
              <a:lnSpc>
                <a:spcPct val="112000"/>
              </a:lnSpc>
              <a:spcAft>
                <a:spcPts val="600"/>
              </a:spcAft>
            </a:pPr>
            <a:r>
              <a:rPr sz="1700" b="0">
                <a:solidFill>
                  <a:srgbClr val="22312B"/>
                </a:solidFill>
                <a:latin typeface="Arial"/>
              </a:rPr>
              <a:t>Jawaban tulis di sel komentar, bukan dihapus. Itu bukti pengerjaan.</a:t>
            </a:r>
          </a:p>
          <a:p>
            <a:pPr algn="l">
              <a:lnSpc>
                <a:spcPct val="112000"/>
              </a:lnSpc>
              <a:spcAft>
                <a:spcPts val="600"/>
              </a:spcAft>
            </a:pPr>
            <a:r>
              <a:rPr sz="1700" b="0">
                <a:solidFill>
                  <a:srgbClr val="22312B"/>
                </a:solidFill>
                <a:latin typeface="Arial"/>
              </a:rPr>
              <a:t>Target akhir: satu analisis lengkap sampai interpretasi, bukan sekadar kode jalan.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Contoh kode: regresi dan prediksi</a:t>
            </a:r>
          </a:p>
        </p:txBody>
      </p:sp>
      <p:sp>
        <p:nvSpPr>
          <p:cNvPr id="6" name="Rectangle 5"/>
          <p:cNvSpPr/>
          <p:nvPr/>
        </p:nvSpPr>
        <p:spPr>
          <a:xfrm>
            <a:off x="502920" y="1463040"/>
            <a:ext cx="11155680" cy="2331720"/>
          </a:xfrm>
          <a:prstGeom prst="rect">
            <a:avLst/>
          </a:prstGeom>
          <a:solidFill>
            <a:srgbClr val="223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200"/>
            <a:ext cx="10789920" cy="2103120"/>
          </a:xfrm>
          <a:prstGeom prst="rect">
            <a:avLst/>
          </a:prstGeom>
          <a:noFill/>
        </p:spPr>
        <p:txBody>
          <a:bodyPr wrap="square">
            <a:spAutoFit/>
          </a:bodyPr>
          <a:lstStyle/>
          <a:p>
            <a:pPr algn="l">
              <a:lnSpc>
                <a:spcPct val="115000"/>
              </a:lnSpc>
              <a:spcAft>
                <a:spcPts val="600"/>
              </a:spcAft>
            </a:pPr>
            <a:r>
              <a:rPr sz="1400" b="0">
                <a:solidFill>
                  <a:srgbClr val="FAF6EF"/>
                </a:solidFill>
                <a:latin typeface="Courier New"/>
              </a:rPr>
              <a:t>import statsmodels.formula.api as smf</a:t>
            </a:r>
          </a:p>
          <a:p>
            <a:pPr algn="l">
              <a:lnSpc>
                <a:spcPct val="115000"/>
              </a:lnSpc>
              <a:spcAft>
                <a:spcPts val="600"/>
              </a:spcAft>
            </a:pPr>
          </a:p>
          <a:p>
            <a:pPr algn="l">
              <a:lnSpc>
                <a:spcPct val="115000"/>
              </a:lnSpc>
              <a:spcAft>
                <a:spcPts val="600"/>
              </a:spcAft>
            </a:pPr>
            <a:r>
              <a:rPr sz="1400" b="0">
                <a:solidFill>
                  <a:srgbClr val="FAF6EF"/>
                </a:solidFill>
                <a:latin typeface="Courier New"/>
              </a:rPr>
              <a:t>saham = pd.read_csv("data/uts-2.csv")</a:t>
            </a:r>
          </a:p>
          <a:p>
            <a:pPr algn="l">
              <a:lnSpc>
                <a:spcPct val="115000"/>
              </a:lnSpc>
              <a:spcAft>
                <a:spcPts val="600"/>
              </a:spcAft>
            </a:pPr>
            <a:r>
              <a:rPr sz="1400" b="0">
                <a:solidFill>
                  <a:srgbClr val="FAF6EF"/>
                </a:solidFill>
                <a:latin typeface="Courier New"/>
              </a:rPr>
              <a:t>model = smf.ols("Y_Harga_Saham ~ X1_Pendapatan_per_Saham", data=saham).fit()</a:t>
            </a:r>
          </a:p>
          <a:p>
            <a:pPr algn="l">
              <a:lnSpc>
                <a:spcPct val="115000"/>
              </a:lnSpc>
              <a:spcAft>
                <a:spcPts val="600"/>
              </a:spcAft>
            </a:pPr>
            <a:r>
              <a:rPr sz="1400" b="0">
                <a:solidFill>
                  <a:srgbClr val="FAF6EF"/>
                </a:solidFill>
                <a:latin typeface="Courier New"/>
              </a:rPr>
              <a:t>print(model.summary())</a:t>
            </a:r>
          </a:p>
        </p:txBody>
      </p:sp>
      <p:sp>
        <p:nvSpPr>
          <p:cNvPr id="8" name="TextBox 7"/>
          <p:cNvSpPr txBox="1"/>
          <p:nvPr/>
        </p:nvSpPr>
        <p:spPr>
          <a:xfrm>
            <a:off x="594360" y="4023360"/>
            <a:ext cx="10972800" cy="1828800"/>
          </a:xfrm>
          <a:prstGeom prst="rect">
            <a:avLst/>
          </a:prstGeom>
          <a:noFill/>
        </p:spPr>
        <p:txBody>
          <a:bodyPr wrap="square">
            <a:spAutoFit/>
          </a:bodyPr>
          <a:lstStyle/>
          <a:p>
            <a:pPr algn="l">
              <a:lnSpc>
                <a:spcPct val="100000"/>
              </a:lnSpc>
              <a:spcAft>
                <a:spcPts val="600"/>
              </a:spcAft>
            </a:pPr>
            <a:r>
              <a:rPr sz="1700" b="0">
                <a:solidFill>
                  <a:srgbClr val="22312B"/>
                </a:solidFill>
                <a:latin typeface="Arial"/>
              </a:rPr>
              <a:t>Koefisien ~10,4: kenaikan EPS satu unit diiringi kenaikan harga saham 10,4 unit.</a:t>
            </a:r>
          </a:p>
          <a:p>
            <a:pPr algn="l">
              <a:lnSpc>
                <a:spcPct val="100000"/>
              </a:lnSpc>
              <a:spcAft>
                <a:spcPts val="600"/>
              </a:spcAft>
            </a:pPr>
            <a:r>
              <a:rPr sz="1700" b="0">
                <a:solidFill>
                  <a:srgbClr val="22312B"/>
                </a:solidFill>
                <a:latin typeface="Arial"/>
              </a:rPr>
              <a:t>p-value di bawah 0,05: hubungan itu signifikan secara statistik.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Contoh kode: logit dan efek marjinal</a:t>
            </a:r>
          </a:p>
        </p:txBody>
      </p:sp>
      <p:sp>
        <p:nvSpPr>
          <p:cNvPr id="6" name="Rectangle 5"/>
          <p:cNvSpPr/>
          <p:nvPr/>
        </p:nvSpPr>
        <p:spPr>
          <a:xfrm>
            <a:off x="502920" y="1463040"/>
            <a:ext cx="11155680" cy="2514600"/>
          </a:xfrm>
          <a:prstGeom prst="rect">
            <a:avLst/>
          </a:prstGeom>
          <a:solidFill>
            <a:srgbClr val="223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200"/>
            <a:ext cx="10789920" cy="2286000"/>
          </a:xfrm>
          <a:prstGeom prst="rect">
            <a:avLst/>
          </a:prstGeom>
          <a:noFill/>
        </p:spPr>
        <p:txBody>
          <a:bodyPr wrap="square">
            <a:spAutoFit/>
          </a:bodyPr>
          <a:lstStyle/>
          <a:p>
            <a:pPr algn="l">
              <a:lnSpc>
                <a:spcPct val="115000"/>
              </a:lnSpc>
              <a:spcAft>
                <a:spcPts val="600"/>
              </a:spcAft>
            </a:pPr>
            <a:r>
              <a:rPr sz="1400" b="0">
                <a:solidFill>
                  <a:srgbClr val="FAF6EF"/>
                </a:solidFill>
                <a:latin typeface="Courier New"/>
              </a:rPr>
              <a:t>import statsmodels.formula.api as smf</a:t>
            </a:r>
          </a:p>
          <a:p>
            <a:pPr algn="l">
              <a:lnSpc>
                <a:spcPct val="115000"/>
              </a:lnSpc>
              <a:spcAft>
                <a:spcPts val="600"/>
              </a:spcAft>
            </a:pPr>
          </a:p>
          <a:p>
            <a:pPr algn="l">
              <a:lnSpc>
                <a:spcPct val="115000"/>
              </a:lnSpc>
              <a:spcAft>
                <a:spcPts val="600"/>
              </a:spcAft>
            </a:pPr>
            <a:r>
              <a:rPr sz="1400" b="0">
                <a:solidFill>
                  <a:srgbClr val="FAF6EF"/>
                </a:solidFill>
                <a:latin typeface="Courier New"/>
              </a:rPr>
              <a:t>spector = sm.datasets.spector.load_pandas().data</a:t>
            </a:r>
          </a:p>
          <a:p>
            <a:pPr algn="l">
              <a:lnSpc>
                <a:spcPct val="115000"/>
              </a:lnSpc>
              <a:spcAft>
                <a:spcPts val="600"/>
              </a:spcAft>
            </a:pPr>
            <a:r>
              <a:rPr sz="1400" b="0">
                <a:solidFill>
                  <a:srgbClr val="FAF6EF"/>
                </a:solidFill>
                <a:latin typeface="Courier New"/>
              </a:rPr>
              <a:t>logit = smf.logit("GRADE ~ GPA + TUCE + PSI", data=spector).fit()</a:t>
            </a:r>
          </a:p>
          <a:p>
            <a:pPr algn="l">
              <a:lnSpc>
                <a:spcPct val="115000"/>
              </a:lnSpc>
              <a:spcAft>
                <a:spcPts val="600"/>
              </a:spcAft>
            </a:pPr>
            <a:r>
              <a:rPr sz="1400" b="0">
                <a:solidFill>
                  <a:srgbClr val="FAF6EF"/>
                </a:solidFill>
                <a:latin typeface="Courier New"/>
              </a:rPr>
              <a:t>print(logit.get_margeff().summary())</a:t>
            </a:r>
          </a:p>
          <a:p>
            <a:pPr algn="l">
              <a:lnSpc>
                <a:spcPct val="115000"/>
              </a:lnSpc>
              <a:spcAft>
                <a:spcPts val="600"/>
              </a:spcAft>
            </a:pPr>
            <a:r>
              <a:rPr sz="1400" b="0">
                <a:solidFill>
                  <a:srgbClr val="FAF6EF"/>
                </a:solidFill>
                <a:latin typeface="Courier New"/>
              </a:rPr>
              <a:t>from sklearn.metrics import roc_auc_score  # metrik prediksi</a:t>
            </a:r>
          </a:p>
        </p:txBody>
      </p:sp>
      <p:sp>
        <p:nvSpPr>
          <p:cNvPr id="8" name="TextBox 7"/>
          <p:cNvSpPr txBox="1"/>
          <p:nvPr/>
        </p:nvSpPr>
        <p:spPr>
          <a:xfrm>
            <a:off x="594360" y="4206240"/>
            <a:ext cx="10972800" cy="1828800"/>
          </a:xfrm>
          <a:prstGeom prst="rect">
            <a:avLst/>
          </a:prstGeom>
          <a:noFill/>
        </p:spPr>
        <p:txBody>
          <a:bodyPr wrap="square">
            <a:spAutoFit/>
          </a:bodyPr>
          <a:lstStyle/>
          <a:p>
            <a:pPr algn="l">
              <a:lnSpc>
                <a:spcPct val="100000"/>
              </a:lnSpc>
              <a:spcAft>
                <a:spcPts val="600"/>
              </a:spcAft>
            </a:pPr>
            <a:r>
              <a:rPr sz="1700" b="0">
                <a:solidFill>
                  <a:srgbClr val="22312B"/>
                </a:solidFill>
                <a:latin typeface="Arial"/>
              </a:rPr>
              <a:t>Efek marjinal PSI ~0,31: peluang nilai meningkat naik sekitar 31 poin persen.</a:t>
            </a:r>
          </a:p>
          <a:p>
            <a:pPr algn="l">
              <a:lnSpc>
                <a:spcPct val="100000"/>
              </a:lnSpc>
              <a:spcAft>
                <a:spcPts val="600"/>
              </a:spcAft>
            </a:pPr>
            <a:r>
              <a:rPr sz="1700" b="0">
                <a:solidFill>
                  <a:srgbClr val="22312B"/>
                </a:solidFill>
                <a:latin typeface="Arial"/>
              </a:rPr>
              <a:t>Estimasi dan uji di statsmodels, metrik prediksi di scikit-learn.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4592"/>
            <a:ext cx="11155680" cy="731520"/>
          </a:xfrm>
          <a:prstGeom prst="rect">
            <a:avLst/>
          </a:prstGeom>
          <a:noFill/>
        </p:spPr>
        <p:txBody>
          <a:bodyPr wrap="square">
            <a:spAutoFit/>
          </a:bodyPr>
          <a:lstStyle/>
          <a:p>
            <a:pPr algn="l">
              <a:lnSpc>
                <a:spcPct val="100000"/>
              </a:lnSpc>
              <a:spcAft>
                <a:spcPts val="600"/>
              </a:spcAft>
            </a:pPr>
            <a:r>
              <a:rPr sz="2800" b="1">
                <a:solidFill>
                  <a:srgbClr val="FFFFFF"/>
                </a:solidFill>
                <a:latin typeface="Arial"/>
              </a:rPr>
              <a:t>Kendala umum dan solusi cepat</a:t>
            </a:r>
          </a:p>
        </p:txBody>
      </p:sp>
      <p:sp>
        <p:nvSpPr>
          <p:cNvPr id="6" name="Rectangle 5"/>
          <p:cNvSpPr/>
          <p:nvPr/>
        </p:nvSpPr>
        <p:spPr>
          <a:xfrm>
            <a:off x="502920" y="1417320"/>
            <a:ext cx="553212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17320"/>
            <a:ext cx="5532120" cy="50292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81328"/>
            <a:ext cx="5120640" cy="457200"/>
          </a:xfrm>
          <a:prstGeom prst="rect">
            <a:avLst/>
          </a:prstGeom>
          <a:noFill/>
        </p:spPr>
        <p:txBody>
          <a:bodyPr wrap="square">
            <a:spAutoFit/>
          </a:bodyPr>
          <a:lstStyle/>
          <a:p>
            <a:pPr algn="l">
              <a:lnSpc>
                <a:spcPct val="100000"/>
              </a:lnSpc>
              <a:spcAft>
                <a:spcPts val="600"/>
              </a:spcAft>
            </a:pPr>
            <a:r>
              <a:rPr sz="1800" b="1">
                <a:solidFill>
                  <a:srgbClr val="FFFFFF"/>
                </a:solidFill>
                <a:latin typeface="Arial"/>
              </a:rPr>
              <a:t>Gejala</a:t>
            </a:r>
          </a:p>
        </p:txBody>
      </p:sp>
      <p:sp>
        <p:nvSpPr>
          <p:cNvPr id="9" name="TextBox 8"/>
          <p:cNvSpPr txBox="1"/>
          <p:nvPr/>
        </p:nvSpPr>
        <p:spPr>
          <a:xfrm>
            <a:off x="777240" y="2103120"/>
            <a:ext cx="5029200" cy="4023360"/>
          </a:xfrm>
          <a:prstGeom prst="rect">
            <a:avLst/>
          </a:prstGeom>
          <a:noFill/>
        </p:spPr>
        <p:txBody>
          <a:bodyPr wrap="square">
            <a:spAutoFit/>
          </a:bodyPr>
          <a:lstStyle/>
          <a:p>
            <a:pPr algn="l">
              <a:lnSpc>
                <a:spcPct val="110000"/>
              </a:lnSpc>
              <a:spcAft>
                <a:spcPts val="600"/>
              </a:spcAft>
            </a:pPr>
            <a:r>
              <a:rPr sz="1500" b="0">
                <a:solidFill>
                  <a:srgbClr val="22312B"/>
                </a:solidFill>
                <a:latin typeface="Arial"/>
              </a:rPr>
              <a:t>Folder data/ kosong di Colab</a:t>
            </a:r>
          </a:p>
          <a:p>
            <a:pPr algn="l">
              <a:lnSpc>
                <a:spcPct val="110000"/>
              </a:lnSpc>
              <a:spcAft>
                <a:spcPts val="600"/>
              </a:spcAft>
            </a:pPr>
            <a:r>
              <a:rPr sz="1500" b="0">
                <a:solidFill>
                  <a:srgbClr val="22312B"/>
                </a:solidFill>
                <a:latin typeface="Arial"/>
              </a:rPr>
              <a:t>ModuleNotFoundError linearmodels</a:t>
            </a:r>
          </a:p>
          <a:p>
            <a:pPr algn="l">
              <a:lnSpc>
                <a:spcPct val="110000"/>
              </a:lnSpc>
              <a:spcAft>
                <a:spcPts val="600"/>
              </a:spcAft>
            </a:pPr>
            <a:r>
              <a:rPr sz="1500" b="0">
                <a:solidFill>
                  <a:srgbClr val="22312B"/>
                </a:solidFill>
                <a:latin typeface="Arial"/>
              </a:rPr>
              <a:t>Warning perfect separation</a:t>
            </a:r>
          </a:p>
          <a:p>
            <a:pPr algn="l">
              <a:lnSpc>
                <a:spcPct val="110000"/>
              </a:lnSpc>
              <a:spcAft>
                <a:spcPts val="600"/>
              </a:spcAft>
            </a:pPr>
            <a:r>
              <a:rPr sz="1500" b="0">
                <a:solidFill>
                  <a:srgbClr val="22312B"/>
                </a:solidFill>
                <a:latin typeface="Arial"/>
              </a:rPr>
              <a:t>Colab terputus di tengah sesi</a:t>
            </a:r>
          </a:p>
        </p:txBody>
      </p:sp>
      <p:sp>
        <p:nvSpPr>
          <p:cNvPr id="10" name="Rectangle 9"/>
          <p:cNvSpPr/>
          <p:nvPr/>
        </p:nvSpPr>
        <p:spPr>
          <a:xfrm>
            <a:off x="6263640" y="1417320"/>
            <a:ext cx="553212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17320"/>
            <a:ext cx="5532120" cy="502920"/>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481328"/>
            <a:ext cx="5120640" cy="457200"/>
          </a:xfrm>
          <a:prstGeom prst="rect">
            <a:avLst/>
          </a:prstGeom>
          <a:noFill/>
        </p:spPr>
        <p:txBody>
          <a:bodyPr wrap="square">
            <a:spAutoFit/>
          </a:bodyPr>
          <a:lstStyle/>
          <a:p>
            <a:pPr algn="l">
              <a:lnSpc>
                <a:spcPct val="100000"/>
              </a:lnSpc>
              <a:spcAft>
                <a:spcPts val="600"/>
              </a:spcAft>
            </a:pPr>
            <a:r>
              <a:rPr sz="1800" b="1">
                <a:solidFill>
                  <a:srgbClr val="FFFFFF"/>
                </a:solidFill>
                <a:latin typeface="Arial"/>
              </a:rPr>
              <a:t>Solusi</a:t>
            </a:r>
          </a:p>
        </p:txBody>
      </p:sp>
      <p:sp>
        <p:nvSpPr>
          <p:cNvPr id="13" name="TextBox 12"/>
          <p:cNvSpPr txBox="1"/>
          <p:nvPr/>
        </p:nvSpPr>
        <p:spPr>
          <a:xfrm>
            <a:off x="6537960" y="2103120"/>
            <a:ext cx="5029200" cy="4023360"/>
          </a:xfrm>
          <a:prstGeom prst="rect">
            <a:avLst/>
          </a:prstGeom>
          <a:noFill/>
        </p:spPr>
        <p:txBody>
          <a:bodyPr wrap="square">
            <a:spAutoFit/>
          </a:bodyPr>
          <a:lstStyle/>
          <a:p>
            <a:pPr algn="l">
              <a:lnSpc>
                <a:spcPct val="110000"/>
              </a:lnSpc>
              <a:spcAft>
                <a:spcPts val="600"/>
              </a:spcAft>
            </a:pPr>
            <a:r>
              <a:rPr sz="1500" b="0">
                <a:solidFill>
                  <a:srgbClr val="22312B"/>
                </a:solidFill>
                <a:latin typeface="Arial"/>
              </a:rPr>
              <a:t>Unggah data-ekonometrika.zip, jalankan sel pertama</a:t>
            </a:r>
          </a:p>
          <a:p>
            <a:pPr algn="l">
              <a:lnSpc>
                <a:spcPct val="110000"/>
              </a:lnSpc>
              <a:spcAft>
                <a:spcPts val="600"/>
              </a:spcAft>
            </a:pPr>
            <a:r>
              <a:rPr sz="1500" b="0">
                <a:solidFill>
                  <a:srgbClr val="22312B"/>
                </a:solidFill>
                <a:latin typeface="Arial"/>
              </a:rPr>
              <a:t>Jalankan sel %pip install linearmodels arch -q</a:t>
            </a:r>
          </a:p>
          <a:p>
            <a:pPr algn="l">
              <a:lnSpc>
                <a:spcPct val="110000"/>
              </a:lnSpc>
              <a:spcAft>
                <a:spcPts val="600"/>
              </a:spcAft>
            </a:pPr>
            <a:r>
              <a:rPr sz="1500" b="0">
                <a:solidFill>
                  <a:srgbClr val="22312B"/>
                </a:solidFill>
                <a:latin typeface="Arial"/>
              </a:rPr>
              <a:t>Bukan error; bahan diskusi Sesi 4 soal data terpisah</a:t>
            </a:r>
          </a:p>
          <a:p>
            <a:pPr algn="l">
              <a:lnSpc>
                <a:spcPct val="110000"/>
              </a:lnSpc>
              <a:spcAft>
                <a:spcPts val="600"/>
              </a:spcAft>
            </a:pPr>
            <a:r>
              <a:rPr sz="1500" b="0">
                <a:solidFill>
                  <a:srgbClr val="22312B"/>
                </a:solidFill>
                <a:latin typeface="Arial"/>
              </a:rPr>
              <a:t>Unggah ulang data, simpan salinan notebook ke Drive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F5D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74519"/>
            <a:ext cx="2926080" cy="64008"/>
          </a:xfrm>
          <a:prstGeom prst="rect">
            <a:avLst/>
          </a:prstGeom>
          <a:solidFill>
            <a:srgbClr val="C15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515600" cy="914400"/>
          </a:xfrm>
          <a:prstGeom prst="rect">
            <a:avLst/>
          </a:prstGeom>
          <a:noFill/>
        </p:spPr>
        <p:txBody>
          <a:bodyPr wrap="square">
            <a:spAutoFit/>
          </a:bodyPr>
          <a:lstStyle/>
          <a:p>
            <a:pPr algn="l">
              <a:lnSpc>
                <a:spcPct val="100000"/>
              </a:lnSpc>
              <a:spcAft>
                <a:spcPts val="600"/>
              </a:spcAft>
            </a:pPr>
            <a:r>
              <a:rPr sz="3400" b="1">
                <a:solidFill>
                  <a:srgbClr val="FAF6EF"/>
                </a:solidFill>
                <a:latin typeface="Arial"/>
              </a:rPr>
              <a:t>Satu analisis lengkap</a:t>
            </a:r>
          </a:p>
        </p:txBody>
      </p:sp>
      <p:sp>
        <p:nvSpPr>
          <p:cNvPr id="5" name="TextBox 4"/>
          <p:cNvSpPr txBox="1"/>
          <p:nvPr/>
        </p:nvSpPr>
        <p:spPr>
          <a:xfrm>
            <a:off x="822960" y="3108960"/>
            <a:ext cx="10515600" cy="1463040"/>
          </a:xfrm>
          <a:prstGeom prst="rect">
            <a:avLst/>
          </a:prstGeom>
          <a:noFill/>
        </p:spPr>
        <p:txBody>
          <a:bodyPr wrap="square">
            <a:spAutoFit/>
          </a:bodyPr>
          <a:lstStyle/>
          <a:p>
            <a:pPr algn="l">
              <a:lnSpc>
                <a:spcPct val="120000"/>
              </a:lnSpc>
              <a:spcAft>
                <a:spcPts val="600"/>
              </a:spcAft>
            </a:pPr>
            <a:r>
              <a:rPr sz="1700" b="0">
                <a:solidFill>
                  <a:srgbClr val="FFFFFF"/>
                </a:solidFill>
                <a:latin typeface="Arial"/>
              </a:rPr>
              <a:t>Target workshop: dari pertanyaan, data, model, diagnostik, sampai kesimpulan.</a:t>
            </a:r>
          </a:p>
          <a:p>
            <a:pPr algn="l">
              <a:lnSpc>
                <a:spcPct val="120000"/>
              </a:lnSpc>
              <a:spcAft>
                <a:spcPts val="600"/>
              </a:spcAft>
            </a:pPr>
            <a:r>
              <a:rPr sz="1700" b="0">
                <a:solidFill>
                  <a:srgbClr val="FFFFFF"/>
                </a:solidFill>
                <a:latin typeface="Arial"/>
              </a:rPr>
              <a:t>Semua kode sederhana, semua data lokal, semua sudah diuji berjalan.</a:t>
            </a:r>
          </a:p>
        </p:txBody>
      </p:sp>
      <p:sp>
        <p:nvSpPr>
          <p:cNvPr id="6" name="TextBox 5"/>
          <p:cNvSpPr txBox="1"/>
          <p:nvPr/>
        </p:nvSpPr>
        <p:spPr>
          <a:xfrm>
            <a:off x="822960" y="5120640"/>
            <a:ext cx="10515600" cy="548640"/>
          </a:xfrm>
          <a:prstGeom prst="rect">
            <a:avLst/>
          </a:prstGeom>
          <a:noFill/>
        </p:spPr>
        <p:txBody>
          <a:bodyPr wrap="square">
            <a:spAutoFit/>
          </a:bodyPr>
          <a:lstStyle/>
          <a:p>
            <a:pPr algn="l">
              <a:lnSpc>
                <a:spcPct val="100000"/>
              </a:lnSpc>
              <a:spcAft>
                <a:spcPts val="600"/>
              </a:spcAft>
            </a:pPr>
            <a:r>
              <a:rPr sz="2000" b="1">
                <a:solidFill>
                  <a:srgbClr val="FAF6EF"/>
                </a:solidFill>
                <a:latin typeface="Arial"/>
              </a:rPr>
              <a:t>Selamat mengajar.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