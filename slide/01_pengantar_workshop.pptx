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Buka dengan tujuan praktis: peserta keluar dari ruangan bisa menjalankan analisis sendiri. Sebutkan bahwa semua kode sudah diuji dan CSV dibaca dari GitHub dengan koneksi internet.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Tekankan bahwa workshop ini bukan pengantar teori, tapi latihan alur kerja. Teori tetap dibahas singkat di setiap sesi sebagai konteks.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Tunjukkan bahwa hari 1 dan hari 2 memakai urutan yang sama, jadi dosen yang sudah ikut hari 1 bisa langsung membimbing di hari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Ingatkan bahwa linearmodels dan arch dipasang lewat satu sel %pip install yang sudah disiapkan di Sesi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Mulai dengan estimator scikit-learn. Pelengkap inferensi bernama uji_ memakai X dan y yang sama; jelaskan hanya ketika membahas signifikansi atau diagnostik. Model khusus dipertahankan agar substansi ekonometrika tetap lengkap.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Lakukan ini bersama-sama di awal. Minta satu peserta berbagi layar untuk memastikan langkahnya sama. Kesalahan paling umum di workshop adalah sel sebelumnya belum dijalankan.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alur: lihat data, pasang model, baca summary, prediksi. Tunjukkan juga kasus model linear yang gagal di hubungan melengkung sebagai jembatan ke Sesi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Pay-off dari Sesi 1: model kuadratik memperbaiki R kuadrat dari 0,007 ke 0,999 pada data iklan-penjualan. Ini momen yang bagus untuk menunjukkan kenapa bentuk fungsional penting.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Tekankan urutan: estimasi, uji, perbaiki seperlunya, baru interpretasi. Ingatkan bahwa robust SE mengubah standard error, bukan koefisien.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 sesi favorit audiens ilmu komputer karena dekat dengan klasifikasi. Tunjukkan bahwa efek marjinal menjawab 'berapa poin persen', jauh lebih mudah dijelaskan daripada log-odds.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Cerita pria mabuk dan anjingnya bagus untuk menjelaskan kointegrasi. Kasus IHSG-emas di latihan menunjukkan apa yang terjadi kalau ECM dipakai tanpa kointegrasi: koefisiennya terlihat signifikan tapi menyesatkan.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Jujur soal data simulasi: beta jatuh ke nol karena datanya memang ARCH. Bandingkan dengan simulasi GARCH asli (alpha 0,12 dan beta 0,83) supaya peserta melihat mesin estimasinya bekerja benar.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 slide penutup yang kuat: setelah dua hari memakai data simulasi, peserta melihat hasil yang sama dengan gaya buku teks pada data asli. Tekankan bahwa CSV dibaca dari salinan GitHub, dan jalur BPS di pengajar/README.md#sumber membuka pintu untuk data yang lebih baru.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Keliling kelas saat latihan. Kesalahan paling sering: lupa mengganti nama kolom di rumus, dan lupa menjalankan sel data sebelum sel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Ketik ulang kode ini di depan peserta, jangan hanya dibacakan. Tunjukkan tabel X, kolom y, coef_, dan intercept_. Uji statistik ada di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Jelaskan urutan kolom peluang melalui classes_. Contoh efek marjinal dan p-value tetap ada pada pelengkap statistik di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Siapkan jawaban ini di ujung lidah. Sebagian besar peserta akan menemui minimal satu dari empat kendala ini.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Tutup dengan mengarahkan peserta ke proyek mini dan rubrik. Ingatkan bahwa kunci jawaban tersedia, tapi baru dibuka setelah mencoba.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160520"/>
            <a:ext cx="2926080" cy="64008"/>
          </a:xfrm>
          <a:prstGeom prst="rect">
            <a:avLst/>
          </a:prstGeom>
          <a:solidFill>
            <a:srgbClr val="C15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400" b="1">
                <a:solidFill>
                  <a:srgbClr val="FAF6EF"/>
                </a:solidFill>
                <a:latin typeface="Arial"/>
              </a:rPr>
              <a:t>Workshop Ekonometrika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0">
                <a:solidFill>
                  <a:srgbClr val="FAF6EF"/>
                </a:solidFill>
                <a:latin typeface="Arial"/>
              </a:rPr>
              <a:t>dengan Google Colab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34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Hari pertama untuk dosen, hari kedua untuk mahasiswa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CFDDD6"/>
                </a:solidFill>
                <a:latin typeface="Arial"/>
              </a:rPr>
              <a:t>Materi dan data: paggalih.github.io/matkul/sem2025-01/ekonometrika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F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15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Yang dicapai dalam dua hari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1097280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22312B"/>
                </a:solidFill>
                <a:latin typeface="Arial"/>
              </a:rPr>
              <a:t>Hari 1: alur analisis lengkap, dari regresi linear sampai data panel dan GARCH.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22312B"/>
                </a:solidFill>
                <a:latin typeface="Arial"/>
              </a:rPr>
              <a:t>Hari 2: praktik terbimbing, latihan mandiri per topik, ditutup proyek mini.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22312B"/>
                </a:solidFill>
                <a:latin typeface="Arial"/>
              </a:rPr>
              <a:t>Notebook membaca CSV langsung dari GitHub; gunakan koneksi internet.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22312B"/>
                </a:solidFill>
                <a:latin typeface="Arial"/>
              </a:rPr>
              <a:t>Setiap notebook sudah diuji dijalankan dari atas ke bawah tanpa error.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F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15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Peta dua hari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5532120" cy="4846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5532120" cy="502920"/>
          </a:xfrm>
          <a:prstGeom prst="rect">
            <a:avLst/>
          </a:prstGeom>
          <a:solidFill>
            <a:srgbClr val="2F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8132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Hari 1: pengajar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22312B"/>
                </a:solidFill>
                <a:latin typeface="Arial"/>
              </a:rPr>
              <a:t>00. Persiapan Colab dan eksplorasi data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22312B"/>
                </a:solidFill>
                <a:latin typeface="Arial"/>
              </a:rPr>
              <a:t>01. Regresi linear dasar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22312B"/>
                </a:solidFill>
                <a:latin typeface="Arial"/>
              </a:rPr>
              <a:t>02. Bentuk fungsional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22312B"/>
                </a:solidFill>
                <a:latin typeface="Arial"/>
              </a:rPr>
              <a:t>03. Dummy dan uji asumsi klasik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22312B"/>
                </a:solidFill>
                <a:latin typeface="Arial"/>
              </a:rPr>
              <a:t>04. Model kategorikal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22312B"/>
                </a:solidFill>
                <a:latin typeface="Arial"/>
              </a:rPr>
              <a:t>05. Deret waktu dan ECM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22312B"/>
                </a:solidFill>
                <a:latin typeface="Arial"/>
              </a:rPr>
              <a:t>06. Data panel dan GARCH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5532120" cy="4846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5532120" cy="502920"/>
          </a:xfrm>
          <a:prstGeom prst="rect">
            <a:avLst/>
          </a:prstGeom>
          <a:solidFill>
            <a:srgbClr val="C15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8132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Hari 2: mahasiswa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0312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22312B"/>
                </a:solidFill>
                <a:latin typeface="Arial"/>
              </a:rPr>
              <a:t>Lab 0. Membaca dan mengeksplorasi data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22312B"/>
                </a:solidFill>
                <a:latin typeface="Arial"/>
              </a:rPr>
              <a:t>Lab 1. Regresi dan interpretasi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22312B"/>
                </a:solidFill>
                <a:latin typeface="Arial"/>
              </a:rPr>
              <a:t>Lab 2. Memilih bentuk model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22312B"/>
                </a:solidFill>
                <a:latin typeface="Arial"/>
              </a:rPr>
              <a:t>Lab 3. Dummy dan diagnostik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22312B"/>
                </a:solidFill>
                <a:latin typeface="Arial"/>
              </a:rPr>
              <a:t>Lab 4. Logit, ordinal, Poisson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22312B"/>
                </a:solidFill>
                <a:latin typeface="Arial"/>
              </a:rPr>
              <a:t>Lab 5. Deret waktu dan panel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22312B"/>
                </a:solidFill>
                <a:latin typeface="Arial"/>
              </a:rPr>
              <a:t>Lab 6. Data Indonesia asli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22312B"/>
                </a:solidFill>
                <a:latin typeface="Arial"/>
              </a:rPr>
              <a:t>Proyek mini dan rubrik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F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15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Alat yang dipakai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1097280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22312B"/>
                </a:solidFill>
                <a:latin typeface="Arial"/>
              </a:rPr>
              <a:t>Google Colab: berjalan di browser, tidak perlu instalasi.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22312B"/>
                </a:solidFill>
                <a:latin typeface="Arial"/>
              </a:rPr>
              <a:t>pandas dan numpy: mengolah tabel dan angka.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22312B"/>
                </a:solidFill>
                <a:latin typeface="Arial"/>
              </a:rPr>
              <a:t>scikit-learn: model utama, koefisien, prediksi, dan evaluasi.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22312B"/>
                </a:solidFill>
                <a:latin typeface="Arial"/>
              </a:rPr>
              <a:t>statsmodels: pelengkap p-value, standard error, dan uji diagnostik.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22312B"/>
                </a:solidFill>
                <a:latin typeface="Arial"/>
              </a:rPr>
              <a:t>matplotlib dan seaborn: grafik. linearmodels dan arch: panel dan GARCH.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F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15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Pemodelan dengan scikit-learn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5532120" cy="4846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5532120" cy="502920"/>
          </a:xfrm>
          <a:prstGeom prst="rect">
            <a:avLst/>
          </a:prstGeom>
          <a:solidFill>
            <a:srgbClr val="2F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8132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Model utama: scikit-learn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22312B"/>
                </a:solidFill>
                <a:latin typeface="Arial"/>
              </a:rPr>
              <a:t>LinearRegression: regresi dengan OLS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22312B"/>
                </a:solidFill>
                <a:latin typeface="Arial"/>
              </a:rPr>
              <a:t>LogisticRegression: logit dan multinomial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22312B"/>
                </a:solidFill>
                <a:latin typeface="Arial"/>
              </a:rPr>
              <a:t>PoissonRegressor: target berupa hitungan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22312B"/>
                </a:solidFill>
                <a:latin typeface="Arial"/>
              </a:rPr>
              <a:t>Pola yang sama: X, y, fit, predict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5532120" cy="4846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5532120" cy="502920"/>
          </a:xfrm>
          <a:prstGeom prst="rect">
            <a:avLst/>
          </a:prstGeom>
          <a:solidFill>
            <a:srgbClr val="C15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8132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Pelengkap statistik dan model khusus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0312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22312B"/>
                </a:solidFill>
                <a:latin typeface="Arial"/>
              </a:rPr>
              <a:t>statsmodels: p-value, SE, dan diagnostik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22312B"/>
                </a:solidFill>
                <a:latin typeface="Arial"/>
              </a:rPr>
              <a:t>Probit, ordinal, Tobit, ARIMA: alat khusus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22312B"/>
                </a:solidFill>
                <a:latin typeface="Arial"/>
              </a:rPr>
              <a:t>linearmodels: model data panel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22312B"/>
                </a:solidFill>
                <a:latin typeface="Arial"/>
              </a:rPr>
              <a:t>arch: volatilitas GARCH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F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15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Persiapan data (5 menit sebelum mulai)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1097280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22312B"/>
                </a:solidFill>
                <a:latin typeface="Arial"/>
              </a:rPr>
              <a:t>Buka notebook .ipynb dari tautan pada README utama.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22312B"/>
                </a:solidFill>
                <a:latin typeface="Arial"/>
              </a:rPr>
              <a:t>Jalankan sel alamat data, lalu lanjutkan sel secara berurutan.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22312B"/>
                </a:solidFill>
                <a:latin typeface="Arial"/>
              </a:rPr>
              <a:t>Baca tabel Kenali data dan lima baris contoh sebelum memasang model.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22312B"/>
                </a:solidFill>
                <a:latin typeface="Arial"/>
              </a:rPr>
              <a:t>CSV dan ZIP tidak perlu diunggah ke Google Colab.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F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15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Sesi 1: regresi linear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1097280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22312B"/>
                </a:solidFill>
                <a:latin typeface="Arial"/>
              </a:rPr>
              <a:t>Mulai dari scatter plot, jangan langsung ke tabel.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22312B"/>
                </a:solidFill>
                <a:latin typeface="Arial"/>
              </a:rPr>
              <a:t>Baca koefisien sebagai perubahan Y per satu unit X, ceteris paribus.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22312B"/>
                </a:solidFill>
                <a:latin typeface="Arial"/>
              </a:rPr>
              <a:t>Uji t untuk satu variabel, uji F untuk model keseluruhan.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22312B"/>
                </a:solidFill>
                <a:latin typeface="Arial"/>
              </a:rPr>
              <a:t>Pesan: R kuadrat tinggi bukan bukti model benar atau hubungan kausal.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F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15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Sesi 2: bentuk fungsional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1097280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22312B"/>
                </a:solidFill>
                <a:latin typeface="Arial"/>
              </a:rPr>
              <a:t>Log-log untuk elastisitas, contoh fungsi produksi Cobb-Douglas.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22312B"/>
                </a:solidFill>
                <a:latin typeface="Arial"/>
              </a:rPr>
              <a:t>Reciprocal untuk hubungan yang punya batas atau titik jenuh.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22312B"/>
                </a:solidFill>
                <a:latin typeface="Arial"/>
              </a:rPr>
              <a:t>Polinomial untuk pola naik lalu turun, titik puncak dihitung dari koefisien.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22312B"/>
                </a:solidFill>
                <a:latin typeface="Arial"/>
              </a:rPr>
              <a:t>Aturan praktis: teori dulu, baru bandingkan R kuadrat pada Y yang sama.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F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15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Sesi 3: dummy dan uji asumsi klasik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1097280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22312B"/>
                </a:solidFill>
                <a:latin typeface="Arial"/>
              </a:rPr>
              <a:t>Dummy selalu punya kategori basis. Sebut basisnya sebelum menafsirkan.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22312B"/>
                </a:solidFill>
                <a:latin typeface="Arial"/>
              </a:rPr>
              <a:t>Multikolinearitas lewat VIF, heteroskedastisitas lewat Breusch-Pagan dan White.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22312B"/>
                </a:solidFill>
                <a:latin typeface="Arial"/>
              </a:rPr>
              <a:t>Normalitas lewat Jarque-Bera, autokorelasi lewat Durbin-Watson dan Breusch-Godfrey.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22312B"/>
                </a:solidFill>
                <a:latin typeface="Arial"/>
              </a:rPr>
              <a:t>Obat praktis: robust SE untuk heteroskedastisitas, HAC untuk autokorelasi.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F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15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Sesi 4: model kategorikal dan terbatas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1097280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22312B"/>
                </a:solidFill>
                <a:latin typeface="Arial"/>
              </a:rPr>
              <a:t>Logit dan probit untuk Y 0/1. Baca odds ratio dan efek marjinal, bukan koefisien mentah.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22312B"/>
                </a:solidFill>
                <a:latin typeface="Arial"/>
              </a:rPr>
              <a:t>Multinomial untuk kategori tanpa urutan, ordinal untuk kategori berurutan.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22312B"/>
                </a:solidFill>
                <a:latin typeface="Arial"/>
              </a:rPr>
              <a:t>Tobit untuk data tersensor, Poisson untuk data hitungan.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22312B"/>
                </a:solidFill>
                <a:latin typeface="Arial"/>
              </a:rPr>
              <a:t>Kasus perfect separation dibahas terbuka: kenapa terjadi dan bagaimana menanganinya.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F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15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Sesi 5: deret waktu, kointegrasi, dan ECM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1097280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22312B"/>
                </a:solidFill>
                <a:latin typeface="Arial"/>
              </a:rPr>
              <a:t>Urutan wajib: plot data, uji ADF, selisih kalau perlu, baru model.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22312B"/>
                </a:solidFill>
                <a:latin typeface="Arial"/>
              </a:rPr>
              <a:t>ARIMA untuk peramalan, pilih orde dengan AIC plus prinsip parsimoni.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22312B"/>
                </a:solidFill>
                <a:latin typeface="Arial"/>
              </a:rPr>
              <a:t>Kointegrasi diperiksa sebelum meregresikan dua variabel yang bertren.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22312B"/>
                </a:solidFill>
                <a:latin typeface="Arial"/>
              </a:rPr>
              <a:t>ECM: koefisien koreksi harus negatif dan signifikan. Contoh: 70 persen koreksi per periode.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F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15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Sesi 6: data panel dan GARCH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1097280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22312B"/>
                </a:solidFill>
                <a:latin typeface="Arial"/>
              </a:rPr>
              <a:t>Panel: pilih CEM, FEM, atau REM lewat uji Chow dan Hausman.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22312B"/>
                </a:solidFill>
                <a:latin typeface="Arial"/>
              </a:rPr>
              <a:t>Laporkan p-value mentah Hausman, jangan hanya menulis p &lt; 0,05.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22312B"/>
                </a:solidFill>
                <a:latin typeface="Arial"/>
              </a:rPr>
              <a:t>GARCH memodelkan varians: alpha untuk guncangan baru, beta untuk persistensi.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22312B"/>
                </a:solidFill>
                <a:latin typeface="Arial"/>
              </a:rPr>
              <a:t>Data simulasi di workshop murni ARCH; simulasi GARCH asli disertakan sebagai pembanding.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F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15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Lab 6: data Indonesia asli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1097280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22312B"/>
                </a:solidFill>
                <a:latin typeface="Arial"/>
              </a:rPr>
              <a:t>IHSG sejak 1990: GARCH beta 0,82, persistensi 0,99; era krisis 1998 menyentuh IGARCH.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22312B"/>
                </a:solidFill>
                <a:latin typeface="Arial"/>
              </a:rPr>
              <a:t>Inflasi bulanan sejak 1968 dan kurs tahunan sejak 1967: krisis 1998 terlihat jelas, inflasi 58 persen dan rupiah melemah 244 persen.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22312B"/>
                </a:solidFill>
                <a:latin typeface="Arial"/>
              </a:rPr>
              <a:t>Panel 10 negara ASEAN dari World Bank dan cross-section 34 provinsi dari kompilasi BPS.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22312B"/>
                </a:solidFill>
                <a:latin typeface="Arial"/>
              </a:rPr>
              <a:t>Referensi: pengajar/README.md#sumber; alat: alat_bantu/unduh_data_indonesia.py.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F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15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Alur hari 2 dan aturan latihan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1097280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22312B"/>
                </a:solidFill>
                <a:latin typeface="Arial"/>
              </a:rPr>
              <a:t>Setiap lab berisi contoh terbimbing lalu latihan mandiri di sel kosong.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22312B"/>
                </a:solidFill>
                <a:latin typeface="Arial"/>
              </a:rPr>
              <a:t>Kunci: pengajar/kunci_jawaban/. Pakai setelah mencoba sendiri.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22312B"/>
                </a:solidFill>
                <a:latin typeface="Arial"/>
              </a:rPr>
              <a:t>Jawaban tulis di sel komentar, bukan dihapus. Itu bukti pengerjaan.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22312B"/>
                </a:solidFill>
                <a:latin typeface="Arial"/>
              </a:rPr>
              <a:t>Target akhir: satu analisis lengkap sampai interpretasi, bukan sekadar kode jalan.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F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15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Contoh kode: regresi dan prediksi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11155680" cy="2331720"/>
          </a:xfrm>
          <a:prstGeom prst="rect">
            <a:avLst/>
          </a:prstGeom>
          <a:solidFill>
            <a:srgbClr val="223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789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FAF6EF"/>
                </a:solidFill>
                <a:latin typeface="Courier New"/>
              </a:rPr>
              <a:t>import pandas as pd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FAF6EF"/>
                </a:solidFill>
                <a:latin typeface="Courier New"/>
              </a:rPr>
              <a:t>from sklearn.linear_model import LinearRegression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FAF6EF"/>
                </a:solidFill>
                <a:latin typeface="Courier New"/>
              </a:rPr>
              <a:t>saham = pd.read_csv("data/uts_2.csv")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FAF6EF"/>
                </a:solidFill>
                <a:latin typeface="Courier New"/>
              </a:rPr>
              <a:t>X = saham[["X1_Pendapatan_per_Saham"]]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FAF6EF"/>
                </a:solidFill>
                <a:latin typeface="Courier New"/>
              </a:rPr>
              <a:t>y = saham["Y_Harga_Saham"]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FAF6EF"/>
                </a:solidFill>
                <a:latin typeface="Courier New"/>
              </a:rPr>
              <a:t>model = LinearRegression()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FAF6EF"/>
                </a:solidFill>
                <a:latin typeface="Courier New"/>
              </a:rPr>
              <a:t>model.fit(X, y)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FAF6EF"/>
                </a:solidFill>
                <a:latin typeface="Courier New"/>
              </a:rPr>
              <a:t>print(model.intercept_, model.coef_)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0233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22312B"/>
                </a:solidFill>
                <a:latin typeface="Arial"/>
              </a:rPr>
              <a:t>Koefisien ~10,4: kenaikan EPS satu unit diiringi kenaikan harga saham 10,4 unit.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22312B"/>
                </a:solidFill>
                <a:latin typeface="Arial"/>
              </a:rPr>
              <a:t>Koefisien: coef_. Intersep: intercept_. Uji signifikansi dibahas terpisah.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F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15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Contoh kode: logit, kelas, dan peluang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11155680" cy="2514600"/>
          </a:xfrm>
          <a:prstGeom prst="rect">
            <a:avLst/>
          </a:prstGeom>
          <a:solidFill>
            <a:srgbClr val="223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FAF6EF"/>
                </a:solidFill>
                <a:latin typeface="Courier New"/>
              </a:rPr>
              <a:t>import pandas as pd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FAF6EF"/>
                </a:solidFill>
                <a:latin typeface="Courier New"/>
              </a:rPr>
              <a:t>from sklearn.linear_model import LogisticRegression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FAF6EF"/>
                </a:solidFill>
                <a:latin typeface="Courier New"/>
              </a:rPr>
              <a:t>data = pd.read_csv("data/logit_probit_2.csv")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FAF6EF"/>
                </a:solidFill>
                <a:latin typeface="Courier New"/>
              </a:rPr>
              <a:t>X = data[["IPK_SEM2", "BEASISWA"]]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FAF6EF"/>
                </a:solidFill>
                <a:latin typeface="Courier New"/>
              </a:rPr>
              <a:t>y = data["LULUS_TEPAT"]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FAF6EF"/>
                </a:solidFill>
                <a:latin typeface="Courier New"/>
              </a:rPr>
              <a:t>logit = LogisticRegression(max_iter=5000)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FAF6EF"/>
                </a:solidFill>
                <a:latin typeface="Courier New"/>
              </a:rPr>
              <a:t>logit.fit(X, y)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FAF6EF"/>
                </a:solidFill>
                <a:latin typeface="Courier New"/>
              </a:rPr>
              <a:t>print(logit.predict(X.head()))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FAF6EF"/>
                </a:solidFill>
                <a:latin typeface="Courier New"/>
              </a:rPr>
              <a:t>print(logit.predict_proba(X.head()))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2062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22312B"/>
                </a:solidFill>
                <a:latin typeface="Arial"/>
              </a:rPr>
              <a:t>predict menghasilkan kelas; predict_proba menghasilkan peluang per kelas.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22312B"/>
                </a:solidFill>
                <a:latin typeface="Arial"/>
              </a:rPr>
              <a:t>Regularisasi bawaan membantu ketika data hampir terpisah sempurna.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F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15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Kendala umum dan solusi cepat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5532120" cy="4846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5532120" cy="502920"/>
          </a:xfrm>
          <a:prstGeom prst="rect">
            <a:avLst/>
          </a:prstGeom>
          <a:solidFill>
            <a:srgbClr val="2F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8132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Gejala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22312B"/>
                </a:solidFill>
                <a:latin typeface="Arial"/>
              </a:rPr>
              <a:t>CSV belum terbaca dari GitHub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22312B"/>
                </a:solidFill>
                <a:latin typeface="Arial"/>
              </a:rPr>
              <a:t>ModuleNotFoundError linearmodels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22312B"/>
                </a:solidFill>
                <a:latin typeface="Arial"/>
              </a:rPr>
              <a:t>Warning perfect separation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22312B"/>
                </a:solidFill>
                <a:latin typeface="Arial"/>
              </a:rPr>
              <a:t>Colab terputus di tengah sesi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5532120" cy="4846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5532120" cy="502920"/>
          </a:xfrm>
          <a:prstGeom prst="rect">
            <a:avLst/>
          </a:prstGeom>
          <a:solidFill>
            <a:srgbClr val="C15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8132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Solusi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0312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22312B"/>
                </a:solidFill>
                <a:latin typeface="Arial"/>
              </a:rPr>
              <a:t>Periksa internet, lalu jalankan sel alamat data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22312B"/>
                </a:solidFill>
                <a:latin typeface="Arial"/>
              </a:rPr>
              <a:t>Jalankan sel %pip install linearmodels arch -q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22312B"/>
                </a:solidFill>
                <a:latin typeface="Arial"/>
              </a:rPr>
              <a:t>Bukan error; bahan diskusi Sesi 4 soal data terpisah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22312B"/>
                </a:solidFill>
                <a:latin typeface="Arial"/>
              </a:rPr>
              <a:t>Jalankan ulang dari atas; simpan notebook ke Drive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874519"/>
            <a:ext cx="2926080" cy="64008"/>
          </a:xfrm>
          <a:prstGeom prst="rect">
            <a:avLst/>
          </a:prstGeom>
          <a:solidFill>
            <a:srgbClr val="C15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FAF6EF"/>
                </a:solidFill>
                <a:latin typeface="Arial"/>
              </a:rPr>
              <a:t>Satu analisis lengkap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Arial"/>
              </a:rPr>
              <a:t>Target workshop: dari pertanyaan, data, model, diagnostik, sampai kesimpulan.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Arial"/>
              </a:rPr>
              <a:t>Jalankan kode berurutan, baca grafik, lalu jelaskan hasilnya.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FAF6EF"/>
                </a:solidFill>
                <a:latin typeface="Arial"/>
              </a:rPr>
              <a:t>Selamat mengajar.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